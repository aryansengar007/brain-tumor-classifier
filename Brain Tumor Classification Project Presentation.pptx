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6980" autoAdjust="0"/>
    <p:restoredTop sz="94660"/>
  </p:normalViewPr>
  <p:slideViewPr>
    <p:cSldViewPr snapToGrid="0">
      <p:cViewPr varScale="1">
        <p:scale>
          <a:sx n="96" d="100"/>
          <a:sy n="96" d="100"/>
        </p:scale>
        <p:origin x="86" y="77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2" Type="http://schemas.openxmlformats.org/officeDocument/2006/relationships/slide" Target="slides/slide1.xml"/><Relationship Id="rId16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heme" Target="theme/theme1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1007533" y="0"/>
            <a:ext cx="7934348" cy="6858000"/>
          </a:xfrm>
          <a:prstGeom prst="rect">
            <a:avLst/>
          </a:prstGeom>
          <a:solidFill>
            <a:schemeClr val="bg2">
              <a:alpha val="92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8" name="Rectangle 7"/>
          <p:cNvSpPr/>
          <p:nvPr/>
        </p:nvSpPr>
        <p:spPr>
          <a:xfrm>
            <a:off x="8941881" y="0"/>
            <a:ext cx="27432" cy="6858000"/>
          </a:xfrm>
          <a:prstGeom prst="rect">
            <a:avLst/>
          </a:prstGeom>
          <a:solidFill>
            <a:schemeClr val="accent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2611808" y="3428998"/>
            <a:ext cx="5518066" cy="2268559"/>
          </a:xfrm>
        </p:spPr>
        <p:txBody>
          <a:bodyPr anchor="t">
            <a:normAutofit/>
          </a:bodyPr>
          <a:lstStyle>
            <a:lvl1pPr algn="r">
              <a:defRPr sz="6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2772274" y="2268786"/>
            <a:ext cx="5357600" cy="1160213"/>
          </a:xfrm>
        </p:spPr>
        <p:txBody>
          <a:bodyPr tIns="0" anchor="b">
            <a:normAutofit/>
          </a:bodyPr>
          <a:lstStyle>
            <a:lvl1pPr marL="0" indent="0" algn="r">
              <a:buNone/>
              <a:defRPr sz="1800" b="0">
                <a:solidFill>
                  <a:schemeClr val="tx1"/>
                </a:solidFill>
              </a:defRPr>
            </a:lvl1pPr>
            <a:lvl2pPr marL="457200" indent="0" algn="ctr">
              <a:buNone/>
              <a:defRPr sz="18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AB3A824-1A51-4B26-AD58-A6D8E14F6C04}" type="datetimeFigureOut">
              <a:rPr lang="en-US" dirty="0"/>
              <a:t>1/10/2026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
              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 rIns="45720"/>
          <a:lstStyle/>
          <a:p>
            <a:fld id="{6D22F896-40B5-4ADD-8801-0D06FADFA095}" type="slidenum">
              <a:rPr lang="en-US" dirty="0"/>
              <a:t>‹#›</a:t>
            </a:fld>
            <a:endParaRPr lang="en-US" dirty="0"/>
          </a:p>
        </p:txBody>
      </p:sp>
      <p:sp>
        <p:nvSpPr>
          <p:cNvPr id="13" name="TextBox 12"/>
          <p:cNvSpPr txBox="1"/>
          <p:nvPr/>
        </p:nvSpPr>
        <p:spPr>
          <a:xfrm>
            <a:off x="2191282" y="3262852"/>
            <a:ext cx="415636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sz="2400" dirty="0">
                <a:solidFill>
                  <a:schemeClr val="accent6"/>
                </a:solidFill>
                <a:latin typeface="Wingdings 3" panose="05040102010807070707" pitchFamily="18" charset="2"/>
              </a:rPr>
              <a:t>z</a:t>
            </a:r>
            <a:endParaRPr lang="en-US" sz="2400" dirty="0">
              <a:solidFill>
                <a:schemeClr val="accent6"/>
              </a:solidFill>
              <a:latin typeface="MS Shell Dlg 2" panose="020B0604030504040204" pitchFamily="34" charset="0"/>
            </a:endParaRPr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Rectangle 28"/>
          <p:cNvSpPr/>
          <p:nvPr/>
        </p:nvSpPr>
        <p:spPr>
          <a:xfrm>
            <a:off x="1004479" y="0"/>
            <a:ext cx="10372316" cy="6858000"/>
          </a:xfrm>
          <a:prstGeom prst="rect">
            <a:avLst/>
          </a:prstGeom>
          <a:solidFill>
            <a:schemeClr val="bg2">
              <a:alpha val="92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9" name="Rectangle 8"/>
          <p:cNvSpPr/>
          <p:nvPr/>
        </p:nvSpPr>
        <p:spPr>
          <a:xfrm>
            <a:off x="11377328" y="0"/>
            <a:ext cx="27432" cy="6858000"/>
          </a:xfrm>
          <a:prstGeom prst="rect">
            <a:avLst/>
          </a:prstGeom>
          <a:solidFill>
            <a:schemeClr val="accent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 anchor="ctr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7D162C4-EDD9-4389-A98B-B87ECEA2A816}" type="datetimeFigureOut">
              <a:rPr lang="en-US" dirty="0"/>
              <a:t>1/10/2026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
              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t>‹#›</a:t>
            </a:fld>
            <a:endParaRPr lang="en-US" dirty="0"/>
          </a:p>
        </p:txBody>
      </p:sp>
      <p:sp>
        <p:nvSpPr>
          <p:cNvPr id="7" name="TextBox 6"/>
          <p:cNvSpPr txBox="1"/>
          <p:nvPr/>
        </p:nvSpPr>
        <p:spPr>
          <a:xfrm>
            <a:off x="2194943" y="641225"/>
            <a:ext cx="41563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sz="1800" dirty="0">
                <a:solidFill>
                  <a:schemeClr val="accent6"/>
                </a:solidFill>
                <a:latin typeface="Wingdings 3" panose="05040102010807070707" pitchFamily="18" charset="2"/>
              </a:rPr>
              <a:t>z</a:t>
            </a:r>
            <a:endParaRPr lang="en-US" sz="1000" dirty="0">
              <a:solidFill>
                <a:schemeClr val="accent6"/>
              </a:solidFill>
              <a:latin typeface="MS Shell Dlg 2" panose="020B0604030504040204" pitchFamily="34" charset="0"/>
            </a:endParaRPr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" name="Rectangle 23"/>
          <p:cNvSpPr/>
          <p:nvPr/>
        </p:nvSpPr>
        <p:spPr>
          <a:xfrm>
            <a:off x="1004479" y="0"/>
            <a:ext cx="10372316" cy="6858000"/>
          </a:xfrm>
          <a:prstGeom prst="rect">
            <a:avLst/>
          </a:prstGeom>
          <a:solidFill>
            <a:schemeClr val="bg2">
              <a:alpha val="92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5" name="Rectangle 24"/>
          <p:cNvSpPr/>
          <p:nvPr/>
        </p:nvSpPr>
        <p:spPr>
          <a:xfrm>
            <a:off x="11377328" y="0"/>
            <a:ext cx="27432" cy="6858000"/>
          </a:xfrm>
          <a:prstGeom prst="rect">
            <a:avLst/>
          </a:prstGeom>
          <a:solidFill>
            <a:schemeClr val="accent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11" name="TextBox 10"/>
          <p:cNvSpPr txBox="1"/>
          <p:nvPr/>
        </p:nvSpPr>
        <p:spPr>
          <a:xfrm>
            <a:off x="2191843" y="2962586"/>
            <a:ext cx="41563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sz="1800" dirty="0">
                <a:solidFill>
                  <a:schemeClr val="accent6"/>
                </a:solidFill>
                <a:latin typeface="Wingdings 3" panose="05040102010807070707" pitchFamily="18" charset="2"/>
              </a:rPr>
              <a:t>z</a:t>
            </a:r>
            <a:endParaRPr lang="en-US" sz="1000" dirty="0">
              <a:solidFill>
                <a:schemeClr val="accent6"/>
              </a:solidFill>
              <a:latin typeface="MS Shell Dlg 2" panose="020B0604030504040204" pitchFamily="34" charset="0"/>
            </a:endParaRP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609873" y="3147254"/>
            <a:ext cx="7956560" cy="1424746"/>
          </a:xfrm>
        </p:spPr>
        <p:txBody>
          <a:bodyPr anchor="t">
            <a:normAutofit/>
          </a:bodyPr>
          <a:lstStyle>
            <a:lvl1pPr algn="r"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773968" y="2268786"/>
            <a:ext cx="7791931" cy="878468"/>
          </a:xfrm>
        </p:spPr>
        <p:txBody>
          <a:bodyPr tIns="0" anchor="b">
            <a:normAutofit/>
          </a:bodyPr>
          <a:lstStyle>
            <a:lvl1pPr marL="0" indent="0" algn="r">
              <a:buNone/>
              <a:defRPr sz="18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E5059C3-6A89-4494-99FF-5A4D6FFD50EB}" type="datetimeFigureOut">
              <a:rPr lang="en-US" dirty="0"/>
              <a:t>1/10/2026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
              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Rectangle 25"/>
          <p:cNvSpPr/>
          <p:nvPr/>
        </p:nvSpPr>
        <p:spPr>
          <a:xfrm>
            <a:off x="1004479" y="0"/>
            <a:ext cx="10372316" cy="6858000"/>
          </a:xfrm>
          <a:prstGeom prst="rect">
            <a:avLst/>
          </a:prstGeom>
          <a:solidFill>
            <a:schemeClr val="bg2">
              <a:alpha val="92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7" name="Rectangle 26"/>
          <p:cNvSpPr/>
          <p:nvPr/>
        </p:nvSpPr>
        <p:spPr>
          <a:xfrm>
            <a:off x="11377328" y="0"/>
            <a:ext cx="27432" cy="6858000"/>
          </a:xfrm>
          <a:prstGeom prst="rect">
            <a:avLst/>
          </a:prstGeom>
          <a:solidFill>
            <a:schemeClr val="accent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609873" y="805817"/>
            <a:ext cx="7950984" cy="1081705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2605374" y="2052116"/>
            <a:ext cx="3891960" cy="399782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666636" y="2052114"/>
            <a:ext cx="3894222" cy="3997829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A954B2F-12DE-47F5-8894-472B206D2E1E}" type="datetimeFigureOut">
              <a:rPr lang="en-US" dirty="0"/>
              <a:t>1/10/2026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
              </a:t>
            </a: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t>‹#›</a:t>
            </a:fld>
            <a:endParaRPr lang="en-US" dirty="0"/>
          </a:p>
        </p:txBody>
      </p:sp>
      <p:sp>
        <p:nvSpPr>
          <p:cNvPr id="10" name="TextBox 9"/>
          <p:cNvSpPr txBox="1"/>
          <p:nvPr/>
        </p:nvSpPr>
        <p:spPr>
          <a:xfrm>
            <a:off x="2196172" y="641223"/>
            <a:ext cx="41563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sz="1800" dirty="0">
                <a:solidFill>
                  <a:schemeClr val="accent6"/>
                </a:solidFill>
                <a:latin typeface="Wingdings 3" panose="05040102010807070707" pitchFamily="18" charset="2"/>
              </a:rPr>
              <a:t>z</a:t>
            </a:r>
            <a:endParaRPr lang="en-US" sz="1000" dirty="0">
              <a:solidFill>
                <a:schemeClr val="accent6"/>
              </a:solidFill>
              <a:latin typeface="MS Shell Dlg 2" panose="020B0604030504040204" pitchFamily="34" charset="0"/>
            </a:endParaRPr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Rectangle 19"/>
          <p:cNvSpPr/>
          <p:nvPr/>
        </p:nvSpPr>
        <p:spPr>
          <a:xfrm>
            <a:off x="1004479" y="0"/>
            <a:ext cx="10372316" cy="6858000"/>
          </a:xfrm>
          <a:prstGeom prst="rect">
            <a:avLst/>
          </a:prstGeom>
          <a:solidFill>
            <a:schemeClr val="bg2">
              <a:alpha val="92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1" name="Rectangle 20"/>
          <p:cNvSpPr/>
          <p:nvPr/>
        </p:nvSpPr>
        <p:spPr>
          <a:xfrm>
            <a:off x="11377328" y="0"/>
            <a:ext cx="27432" cy="6858000"/>
          </a:xfrm>
          <a:prstGeom prst="rect">
            <a:avLst/>
          </a:prstGeom>
          <a:solidFill>
            <a:schemeClr val="accent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12" name="TextBox 11"/>
          <p:cNvSpPr txBox="1"/>
          <p:nvPr/>
        </p:nvSpPr>
        <p:spPr>
          <a:xfrm>
            <a:off x="2193650" y="636424"/>
            <a:ext cx="41563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sz="1800" dirty="0">
                <a:solidFill>
                  <a:schemeClr val="accent6"/>
                </a:solidFill>
                <a:latin typeface="Wingdings 3" panose="05040102010807070707" pitchFamily="18" charset="2"/>
              </a:rPr>
              <a:t>z</a:t>
            </a:r>
            <a:endParaRPr lang="en-US" sz="1000" dirty="0">
              <a:solidFill>
                <a:schemeClr val="accent6"/>
              </a:solidFill>
              <a:latin typeface="MS Shell Dlg 2" panose="020B0604030504040204" pitchFamily="34" charset="0"/>
            </a:endParaRP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609873" y="805818"/>
            <a:ext cx="7956560" cy="1078348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609285" y="2052115"/>
            <a:ext cx="3896467" cy="713818"/>
          </a:xfrm>
        </p:spPr>
        <p:txBody>
          <a:bodyPr anchor="b">
            <a:noAutofit/>
          </a:bodyPr>
          <a:lstStyle>
            <a:lvl1pPr marL="0" indent="0" algn="l">
              <a:lnSpc>
                <a:spcPct val="100000"/>
              </a:lnSpc>
              <a:buNone/>
              <a:defRPr sz="2200" b="0" cap="none" baseline="0">
                <a:solidFill>
                  <a:schemeClr val="accent6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2609285" y="2851331"/>
            <a:ext cx="3893623" cy="3071434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666634" y="2052115"/>
            <a:ext cx="3899798" cy="713818"/>
          </a:xfrm>
        </p:spPr>
        <p:txBody>
          <a:bodyPr anchor="b">
            <a:noAutofit/>
          </a:bodyPr>
          <a:lstStyle>
            <a:lvl1pPr marL="0" indent="0" algn="l">
              <a:lnSpc>
                <a:spcPct val="100000"/>
              </a:lnSpc>
              <a:buNone/>
              <a:defRPr sz="2200" b="0" cap="none" baseline="0">
                <a:solidFill>
                  <a:schemeClr val="accent6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666635" y="2851331"/>
            <a:ext cx="3899798" cy="3071434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F30E46F-7819-4ACF-B48B-48222C2ACC88}" type="datetimeFigureOut">
              <a:rPr lang="en-US" dirty="0"/>
              <a:t>1/10/2026</a:t>
            </a:fld>
            <a:endParaRPr lang="en-US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
              </a:t>
            </a:r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Rectangle 12"/>
          <p:cNvSpPr/>
          <p:nvPr/>
        </p:nvSpPr>
        <p:spPr>
          <a:xfrm>
            <a:off x="1004479" y="0"/>
            <a:ext cx="10372316" cy="6858000"/>
          </a:xfrm>
          <a:prstGeom prst="rect">
            <a:avLst/>
          </a:prstGeom>
          <a:solidFill>
            <a:schemeClr val="bg2">
              <a:alpha val="92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14" name="Rectangle 13"/>
          <p:cNvSpPr/>
          <p:nvPr/>
        </p:nvSpPr>
        <p:spPr>
          <a:xfrm>
            <a:off x="11377328" y="0"/>
            <a:ext cx="27432" cy="6858000"/>
          </a:xfrm>
          <a:prstGeom prst="rect">
            <a:avLst/>
          </a:prstGeom>
          <a:solidFill>
            <a:schemeClr val="accent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FAF3416-4057-4DAA-829D-4CA07428D088}" type="datetimeFigureOut">
              <a:rPr lang="en-US" dirty="0"/>
              <a:t>1/10/2026</a:t>
            </a:fld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
              </a:t>
            </a: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t>‹#›</a:t>
            </a:fld>
            <a:endParaRPr lang="en-US" dirty="0"/>
          </a:p>
        </p:txBody>
      </p:sp>
      <p:sp>
        <p:nvSpPr>
          <p:cNvPr id="8" name="TextBox 7"/>
          <p:cNvSpPr txBox="1"/>
          <p:nvPr/>
        </p:nvSpPr>
        <p:spPr>
          <a:xfrm>
            <a:off x="2196172" y="641226"/>
            <a:ext cx="41563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sz="1800" dirty="0">
                <a:solidFill>
                  <a:schemeClr val="accent6"/>
                </a:solidFill>
                <a:latin typeface="Wingdings 3" panose="05040102010807070707" pitchFamily="18" charset="2"/>
              </a:rPr>
              <a:t>z</a:t>
            </a:r>
            <a:endParaRPr lang="en-US" sz="1000" dirty="0">
              <a:solidFill>
                <a:schemeClr val="accent6"/>
              </a:solidFill>
              <a:latin typeface="MS Shell Dlg 2" panose="020B0604030504040204" pitchFamily="34" charset="0"/>
            </a:endParaRPr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Rectangle 11"/>
          <p:cNvSpPr/>
          <p:nvPr/>
        </p:nvSpPr>
        <p:spPr>
          <a:xfrm>
            <a:off x="1004479" y="0"/>
            <a:ext cx="10372316" cy="6858000"/>
          </a:xfrm>
          <a:prstGeom prst="rect">
            <a:avLst/>
          </a:prstGeom>
          <a:solidFill>
            <a:schemeClr val="bg2">
              <a:alpha val="92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13" name="Rectangle 12"/>
          <p:cNvSpPr/>
          <p:nvPr/>
        </p:nvSpPr>
        <p:spPr>
          <a:xfrm>
            <a:off x="11377328" y="0"/>
            <a:ext cx="27432" cy="6858000"/>
          </a:xfrm>
          <a:prstGeom prst="rect">
            <a:avLst/>
          </a:prstGeom>
          <a:solidFill>
            <a:schemeClr val="accent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21D9284-D300-4297-87F7-E791DCC15DB1}" type="datetimeFigureOut">
              <a:rPr lang="en-US" dirty="0"/>
              <a:t>1/10/2026</a:t>
            </a:fld>
            <a:endParaRPr lang="en-US" dirty="0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
              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Rectangle 24"/>
          <p:cNvSpPr/>
          <p:nvPr/>
        </p:nvSpPr>
        <p:spPr>
          <a:xfrm>
            <a:off x="1004479" y="0"/>
            <a:ext cx="10372316" cy="6858000"/>
          </a:xfrm>
          <a:prstGeom prst="rect">
            <a:avLst/>
          </a:prstGeom>
          <a:solidFill>
            <a:schemeClr val="bg2">
              <a:alpha val="92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6" name="Rectangle 25"/>
          <p:cNvSpPr/>
          <p:nvPr/>
        </p:nvSpPr>
        <p:spPr>
          <a:xfrm>
            <a:off x="11377328" y="0"/>
            <a:ext cx="27432" cy="6858000"/>
          </a:xfrm>
          <a:prstGeom prst="rect">
            <a:avLst/>
          </a:prstGeom>
          <a:solidFill>
            <a:schemeClr val="accent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10" name="TextBox 9"/>
          <p:cNvSpPr txBox="1"/>
          <p:nvPr/>
        </p:nvSpPr>
        <p:spPr>
          <a:xfrm>
            <a:off x="1554154" y="1127550"/>
            <a:ext cx="41563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sz="1800" dirty="0">
                <a:solidFill>
                  <a:schemeClr val="accent6"/>
                </a:solidFill>
                <a:latin typeface="Wingdings 3" panose="05040102010807070707" pitchFamily="18" charset="2"/>
              </a:rPr>
              <a:t>z</a:t>
            </a:r>
            <a:endParaRPr lang="en-US" sz="1000" dirty="0">
              <a:solidFill>
                <a:schemeClr val="accent6"/>
              </a:solidFill>
              <a:latin typeface="MS Shell Dlg 2" panose="020B0604030504040204" pitchFamily="34" charset="0"/>
            </a:endParaRP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970323" y="1282451"/>
            <a:ext cx="2664361" cy="1903241"/>
          </a:xfrm>
        </p:spPr>
        <p:txBody>
          <a:bodyPr anchor="b">
            <a:normAutofit/>
          </a:bodyPr>
          <a:lstStyle>
            <a:lvl1pPr algn="l">
              <a:defRPr sz="24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20154" y="805818"/>
            <a:ext cx="5446278" cy="5244126"/>
          </a:xfrm>
        </p:spPr>
        <p:txBody>
          <a:bodyPr anchor="ctr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970322" y="3186154"/>
            <a:ext cx="2664361" cy="2386397"/>
          </a:xfrm>
        </p:spPr>
        <p:txBody>
          <a:bodyPr/>
          <a:lstStyle>
            <a:lvl1pPr marL="0" indent="0" algn="l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7D525BB-DA17-4BA0-B3C8-3AC3ABC827E6}" type="datetimeFigureOut">
              <a:rPr lang="en-US" dirty="0"/>
              <a:t>1/10/2026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
              </a:t>
            </a: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" name="Rectangle 18"/>
          <p:cNvSpPr/>
          <p:nvPr/>
        </p:nvSpPr>
        <p:spPr>
          <a:xfrm>
            <a:off x="1004479" y="0"/>
            <a:ext cx="10372316" cy="6858000"/>
          </a:xfrm>
          <a:prstGeom prst="rect">
            <a:avLst/>
          </a:prstGeom>
          <a:solidFill>
            <a:schemeClr val="bg2">
              <a:alpha val="92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0" name="Rectangle 19"/>
          <p:cNvSpPr/>
          <p:nvPr/>
        </p:nvSpPr>
        <p:spPr>
          <a:xfrm>
            <a:off x="11377328" y="0"/>
            <a:ext cx="27432" cy="6858000"/>
          </a:xfrm>
          <a:prstGeom prst="rect">
            <a:avLst/>
          </a:prstGeom>
          <a:solidFill>
            <a:schemeClr val="accent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6747062" y="3229"/>
            <a:ext cx="4629734" cy="6858000"/>
          </a:xfrm>
          <a:solidFill>
            <a:schemeClr val="tx1">
              <a:alpha val="10000"/>
            </a:schemeClr>
          </a:solidFill>
          <a:ln w="9525" cap="sq">
            <a:noFill/>
            <a:miter lim="800000"/>
          </a:ln>
          <a:effectLst/>
          <a:scene3d>
            <a:camera prst="orthographicFront"/>
            <a:lightRig rig="twoPt" dir="t">
              <a:rot lat="0" lon="0" rev="7200000"/>
            </a:lightRig>
          </a:scene3d>
          <a:sp3d>
            <a:bevelT w="25400" h="19050"/>
            <a:contourClr>
              <a:srgbClr val="FFFFFF"/>
            </a:contourClr>
          </a:sp3d>
        </p:spPr>
        <p:txBody>
          <a:bodyPr anchor="t">
            <a:normAutofit/>
          </a:bodyPr>
          <a:lstStyle>
            <a:lvl1pPr marL="0" indent="0" algn="ctr">
              <a:buNone/>
              <a:defRPr sz="28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10" name="TextBox 9"/>
          <p:cNvSpPr txBox="1"/>
          <p:nvPr/>
        </p:nvSpPr>
        <p:spPr>
          <a:xfrm>
            <a:off x="1554686" y="1127550"/>
            <a:ext cx="41563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sz="1800" dirty="0">
                <a:solidFill>
                  <a:schemeClr val="accent6"/>
                </a:solidFill>
                <a:latin typeface="Wingdings 3" panose="05040102010807070707" pitchFamily="18" charset="2"/>
              </a:rPr>
              <a:t>z</a:t>
            </a:r>
            <a:endParaRPr lang="en-US" sz="1000" dirty="0">
              <a:solidFill>
                <a:schemeClr val="accent6"/>
              </a:solidFill>
              <a:latin typeface="MS Shell Dlg 2" panose="020B0604030504040204" pitchFamily="34" charset="0"/>
            </a:endParaRP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971241" y="1282452"/>
            <a:ext cx="3970986" cy="1900473"/>
          </a:xfrm>
        </p:spPr>
        <p:txBody>
          <a:bodyPr anchor="b">
            <a:normAutofit/>
          </a:bodyPr>
          <a:lstStyle>
            <a:lvl1pPr algn="l"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970322" y="3182928"/>
            <a:ext cx="3971874" cy="2386394"/>
          </a:xfrm>
        </p:spPr>
        <p:txBody>
          <a:bodyPr>
            <a:normAutofit/>
          </a:bodyPr>
          <a:lstStyle>
            <a:lvl1pPr marL="0" indent="0" algn="l">
              <a:buNone/>
              <a:defRPr sz="20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16C4C9A-3960-41CF-A4E9-2A8FB932454B}" type="datetimeFigureOut">
              <a:rPr lang="en-US" dirty="0"/>
              <a:t>1/10/2026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
              </a:t>
            </a: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Rectangle 13"/>
          <p:cNvSpPr/>
          <p:nvPr/>
        </p:nvSpPr>
        <p:spPr>
          <a:xfrm>
            <a:off x="1004479" y="0"/>
            <a:ext cx="10372316" cy="6858000"/>
          </a:xfrm>
          <a:prstGeom prst="rect">
            <a:avLst/>
          </a:prstGeom>
          <a:solidFill>
            <a:schemeClr val="bg2">
              <a:alpha val="92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15" name="Rectangle 14"/>
          <p:cNvSpPr/>
          <p:nvPr/>
        </p:nvSpPr>
        <p:spPr>
          <a:xfrm>
            <a:off x="11377328" y="0"/>
            <a:ext cx="27432" cy="6858000"/>
          </a:xfrm>
          <a:prstGeom prst="rect">
            <a:avLst/>
          </a:prstGeom>
          <a:solidFill>
            <a:schemeClr val="accent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9" name="TextBox 8"/>
          <p:cNvSpPr txBox="1"/>
          <p:nvPr/>
        </p:nvSpPr>
        <p:spPr>
          <a:xfrm>
            <a:off x="2194236" y="641225"/>
            <a:ext cx="41563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sz="1800" dirty="0">
                <a:solidFill>
                  <a:schemeClr val="accent6"/>
                </a:solidFill>
                <a:latin typeface="Wingdings 3" panose="05040102010807070707" pitchFamily="18" charset="2"/>
              </a:rPr>
              <a:t>z</a:t>
            </a:r>
            <a:endParaRPr lang="en-US" sz="1000" dirty="0">
              <a:solidFill>
                <a:schemeClr val="accent6"/>
              </a:solidFill>
              <a:latin typeface="MS Shell Dlg 2" panose="020B0604030504040204" pitchFamily="34" charset="0"/>
            </a:endParaRP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611808" y="808056"/>
            <a:ext cx="7954091" cy="1077229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857E33E-8B18-4087-B112-809917729534}" type="datetimeFigureOut">
              <a:rPr lang="en-US" dirty="0"/>
              <a:t>1/10/2026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
              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Rectangle 14"/>
          <p:cNvSpPr/>
          <p:nvPr/>
        </p:nvSpPr>
        <p:spPr>
          <a:xfrm>
            <a:off x="1004479" y="0"/>
            <a:ext cx="10372316" cy="6858000"/>
          </a:xfrm>
          <a:prstGeom prst="rect">
            <a:avLst/>
          </a:prstGeom>
          <a:solidFill>
            <a:schemeClr val="bg2">
              <a:alpha val="92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16" name="Rectangle 15"/>
          <p:cNvSpPr/>
          <p:nvPr/>
        </p:nvSpPr>
        <p:spPr>
          <a:xfrm>
            <a:off x="11377328" y="0"/>
            <a:ext cx="27432" cy="6858000"/>
          </a:xfrm>
          <a:prstGeom prst="rect">
            <a:avLst/>
          </a:prstGeom>
          <a:solidFill>
            <a:schemeClr val="accent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9" name="TextBox 8"/>
          <p:cNvSpPr txBox="1"/>
          <p:nvPr/>
        </p:nvSpPr>
        <p:spPr>
          <a:xfrm rot="5400000">
            <a:off x="10337141" y="416061"/>
            <a:ext cx="41563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sz="1800" dirty="0">
                <a:solidFill>
                  <a:schemeClr val="accent6"/>
                </a:solidFill>
                <a:latin typeface="Wingdings 3" panose="05040102010807070707" pitchFamily="18" charset="2"/>
              </a:rPr>
              <a:t>z</a:t>
            </a:r>
            <a:endParaRPr lang="en-US" sz="1000" dirty="0">
              <a:solidFill>
                <a:schemeClr val="accent6"/>
              </a:solidFill>
              <a:latin typeface="MS Shell Dlg 2" panose="020B0604030504040204" pitchFamily="34" charset="0"/>
            </a:endParaRPr>
          </a:p>
        </p:txBody>
      </p:sp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9239380" y="805818"/>
            <a:ext cx="1326519" cy="5244126"/>
          </a:xfrm>
        </p:spPr>
        <p:txBody>
          <a:bodyPr vert="eaVert"/>
          <a:lstStyle>
            <a:lvl1pPr algn="l">
              <a:defRPr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2608751" y="970410"/>
            <a:ext cx="6466903" cy="5079534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3FFE419-2371-464F-8239-3959401C3561}" type="datetimeFigureOut">
              <a:rPr lang="en-US" dirty="0"/>
              <a:t>1/10/2026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
              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image" Target="../media/image2.png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image" Target="../media/image3.png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3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8" name="Picture 17"/>
          <p:cNvPicPr>
            <a:picLocks noChangeAspect="1"/>
          </p:cNvPicPr>
          <p:nvPr/>
        </p:nvPicPr>
        <p:blipFill>
          <a:blip r:embed="rId1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831794" y="2105202"/>
            <a:ext cx="9360205" cy="4752798"/>
          </a:xfrm>
          <a:prstGeom prst="rect">
            <a:avLst/>
          </a:prstGeom>
        </p:spPr>
      </p:pic>
      <p:pic>
        <p:nvPicPr>
          <p:cNvPr id="15" name="Picture 14"/>
          <p:cNvPicPr>
            <a:picLocks noChangeAspect="1"/>
          </p:cNvPicPr>
          <p:nvPr/>
        </p:nvPicPr>
        <p:blipFill>
          <a:blip r:embed="rId1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89867" cy="6858000"/>
          </a:xfrm>
          <a:prstGeom prst="rect">
            <a:avLst/>
          </a:prstGeom>
        </p:spPr>
      </p:pic>
      <p:sp>
        <p:nvSpPr>
          <p:cNvPr id="8" name="Rectangle 7"/>
          <p:cNvSpPr/>
          <p:nvPr/>
        </p:nvSpPr>
        <p:spPr>
          <a:xfrm>
            <a:off x="0" y="0"/>
            <a:ext cx="964174" cy="6858000"/>
          </a:xfrm>
          <a:prstGeom prst="rect">
            <a:avLst/>
          </a:prstGeom>
          <a:solidFill>
            <a:schemeClr val="bg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2611808" y="808056"/>
            <a:ext cx="7958331" cy="1077229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773599" y="2052116"/>
            <a:ext cx="7796540" cy="399782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 rot="5400000">
            <a:off x="-810065" y="5270604"/>
            <a:ext cx="2662729" cy="182880"/>
          </a:xfrm>
          <a:prstGeom prst="rect">
            <a:avLst/>
          </a:prstGeom>
        </p:spPr>
        <p:txBody>
          <a:bodyPr vert="horz" lIns="91440" tIns="18288" rIns="91440" bIns="45720" rtlCol="0" anchor="t"/>
          <a:lstStyle>
            <a:lvl1pPr algn="r">
              <a:defRPr sz="800">
                <a:solidFill>
                  <a:schemeClr val="tx1">
                    <a:tint val="75000"/>
                  </a:schemeClr>
                </a:solidFill>
                <a:latin typeface="+mn-lt"/>
              </a:defRPr>
            </a:lvl1pPr>
          </a:lstStyle>
          <a:p>
            <a:fld id="{3CBC1C18-307B-4F68-A007-B5B542270E8D}" type="datetimeFigureOut">
              <a:rPr lang="en-US" dirty="0"/>
              <a:t>1/10/2026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 rot="5400000">
            <a:off x="-2237130" y="3661144"/>
            <a:ext cx="5885352" cy="179176"/>
          </a:xfrm>
          <a:prstGeom prst="rect">
            <a:avLst/>
          </a:prstGeom>
        </p:spPr>
        <p:txBody>
          <a:bodyPr vert="horz" lIns="91440" tIns="45720" rIns="91440" bIns="18288" rtlCol="0" anchor="b"/>
          <a:lstStyle>
            <a:lvl1pPr algn="r">
              <a:defRPr sz="8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r>
              <a:rPr lang="en-US" dirty="0"/>
              <a:t>
              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58407" y="164592"/>
            <a:ext cx="636727" cy="322851"/>
          </a:xfrm>
          <a:prstGeom prst="rect">
            <a:avLst/>
          </a:prstGeom>
        </p:spPr>
        <p:txBody>
          <a:bodyPr vert="horz" lIns="91440" tIns="45720" rIns="45720" bIns="45720" rtlCol="0" anchor="ctr"/>
          <a:lstStyle>
            <a:lvl1pPr algn="r">
              <a:defRPr sz="18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6D22F896-40B5-4ADD-8801-0D06FADFA095}" type="slidenum">
              <a:rPr lang="en-US" dirty="0"/>
              <a:pPr/>
              <a:t>‹#›</a:t>
            </a:fld>
            <a:endParaRPr lang="en-US" dirty="0"/>
          </a:p>
        </p:txBody>
      </p:sp>
      <p:sp>
        <p:nvSpPr>
          <p:cNvPr id="57" name="Rectangle 56"/>
          <p:cNvSpPr/>
          <p:nvPr/>
        </p:nvSpPr>
        <p:spPr>
          <a:xfrm>
            <a:off x="962042" y="0"/>
            <a:ext cx="45719" cy="6858000"/>
          </a:xfrm>
          <a:prstGeom prst="rect">
            <a:avLst/>
          </a:prstGeom>
          <a:solidFill>
            <a:schemeClr val="accent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</p:spTree>
  </p:cSld>
  <p:clrMap bg1="dk1" tx1="lt1" bg2="dk2" tx2="lt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sldNum="0" hdr="0" ftr="0" dt="0"/>
  <p:txStyles>
    <p:titleStyle>
      <a:lvl1pPr algn="r" defTabSz="914400" rtl="0" eaLnBrk="1" latinLnBrk="0" hangingPunct="1">
        <a:lnSpc>
          <a:spcPct val="90000"/>
        </a:lnSpc>
        <a:spcBef>
          <a:spcPct val="0"/>
        </a:spcBef>
        <a:buNone/>
        <a:defRPr sz="3400" b="0" i="0" kern="1200" cap="none">
          <a:solidFill>
            <a:schemeClr val="tx1"/>
          </a:solidFill>
          <a:effectLst/>
          <a:latin typeface="+mj-lt"/>
          <a:ea typeface="+mj-ea"/>
          <a:cs typeface="+mj-cs"/>
        </a:defRPr>
      </a:lvl1pPr>
    </p:titleStyle>
    <p:bodyStyle>
      <a:lvl1pPr marL="344488" indent="-338328" algn="l" defTabSz="914400" rtl="0" eaLnBrk="1" latinLnBrk="0" hangingPunct="1">
        <a:lnSpc>
          <a:spcPct val="120000"/>
        </a:lnSpc>
        <a:spcBef>
          <a:spcPts val="500"/>
        </a:spcBef>
        <a:spcAft>
          <a:spcPts val="600"/>
        </a:spcAft>
        <a:buClr>
          <a:schemeClr val="accent6"/>
        </a:buClr>
        <a:buSzPct val="90000"/>
        <a:buFont typeface="Wingdings" panose="05000000000000000000" pitchFamily="2" charset="2"/>
        <a:buChar char="§"/>
        <a:defRPr sz="2000" kern="1200">
          <a:solidFill>
            <a:schemeClr val="tx1"/>
          </a:solidFill>
          <a:effectLst/>
          <a:latin typeface="+mn-lt"/>
          <a:ea typeface="+mn-ea"/>
          <a:cs typeface="+mn-cs"/>
        </a:defRPr>
      </a:lvl1pPr>
      <a:lvl2pPr marL="795338" indent="-338328" algn="l" defTabSz="914400" rtl="0" eaLnBrk="1" latinLnBrk="0" hangingPunct="1">
        <a:lnSpc>
          <a:spcPct val="120000"/>
        </a:lnSpc>
        <a:spcBef>
          <a:spcPts val="500"/>
        </a:spcBef>
        <a:spcAft>
          <a:spcPts val="600"/>
        </a:spcAft>
        <a:buClr>
          <a:schemeClr val="accent6"/>
        </a:buClr>
        <a:buSzPct val="90000"/>
        <a:buFont typeface="Wingdings" panose="05000000000000000000" pitchFamily="2" charset="2"/>
        <a:buChar char="§"/>
        <a:defRPr sz="1800" kern="1200">
          <a:solidFill>
            <a:schemeClr val="tx1"/>
          </a:solidFill>
          <a:effectLst/>
          <a:latin typeface="+mn-lt"/>
          <a:ea typeface="+mn-ea"/>
          <a:cs typeface="+mn-cs"/>
        </a:defRPr>
      </a:lvl2pPr>
      <a:lvl3pPr marL="1258888" indent="-338328" algn="l" defTabSz="914400" rtl="0" eaLnBrk="1" latinLnBrk="0" hangingPunct="1">
        <a:lnSpc>
          <a:spcPct val="120000"/>
        </a:lnSpc>
        <a:spcBef>
          <a:spcPts val="500"/>
        </a:spcBef>
        <a:spcAft>
          <a:spcPts val="600"/>
        </a:spcAft>
        <a:buClr>
          <a:schemeClr val="accent6"/>
        </a:buClr>
        <a:buSzPct val="90000"/>
        <a:buFont typeface="Wingdings" panose="05000000000000000000" pitchFamily="2" charset="2"/>
        <a:buChar char="§"/>
        <a:defRPr sz="1600" kern="1200">
          <a:solidFill>
            <a:schemeClr val="tx1"/>
          </a:solidFill>
          <a:effectLst/>
          <a:latin typeface="+mn-lt"/>
          <a:ea typeface="+mn-ea"/>
          <a:cs typeface="+mn-cs"/>
        </a:defRPr>
      </a:lvl3pPr>
      <a:lvl4pPr marL="1709738" indent="-338328" algn="l" defTabSz="914400" rtl="0" eaLnBrk="1" latinLnBrk="0" hangingPunct="1">
        <a:lnSpc>
          <a:spcPct val="120000"/>
        </a:lnSpc>
        <a:spcBef>
          <a:spcPts val="500"/>
        </a:spcBef>
        <a:spcAft>
          <a:spcPts val="600"/>
        </a:spcAft>
        <a:buClr>
          <a:schemeClr val="accent6"/>
        </a:buClr>
        <a:buSzPct val="90000"/>
        <a:buFont typeface="Wingdings" panose="05000000000000000000" pitchFamily="2" charset="2"/>
        <a:buChar char="§"/>
        <a:defRPr sz="1400" kern="1200">
          <a:solidFill>
            <a:schemeClr val="tx1"/>
          </a:solidFill>
          <a:effectLst/>
          <a:latin typeface="+mn-lt"/>
          <a:ea typeface="+mn-ea"/>
          <a:cs typeface="+mn-cs"/>
        </a:defRPr>
      </a:lvl4pPr>
      <a:lvl5pPr marL="2173288" indent="-338328" algn="l" defTabSz="914400" rtl="0" eaLnBrk="1" latinLnBrk="0" hangingPunct="1">
        <a:lnSpc>
          <a:spcPct val="120000"/>
        </a:lnSpc>
        <a:spcBef>
          <a:spcPts val="500"/>
        </a:spcBef>
        <a:spcAft>
          <a:spcPts val="600"/>
        </a:spcAft>
        <a:buClr>
          <a:schemeClr val="accent6"/>
        </a:buClr>
        <a:buSzPct val="90000"/>
        <a:buFont typeface="Wingdings" panose="05000000000000000000" pitchFamily="2" charset="2"/>
        <a:buChar char="§"/>
        <a:defRPr sz="1200" kern="1200">
          <a:solidFill>
            <a:schemeClr val="tx1"/>
          </a:solidFill>
          <a:effectLst/>
          <a:latin typeface="+mn-lt"/>
          <a:ea typeface="+mn-ea"/>
          <a:cs typeface="+mn-cs"/>
        </a:defRPr>
      </a:lvl5pPr>
      <a:lvl6pPr marL="2642616" indent="-338328" algn="l" defTabSz="914400" rtl="0" eaLnBrk="1" latinLnBrk="0" hangingPunct="1">
        <a:lnSpc>
          <a:spcPct val="120000"/>
        </a:lnSpc>
        <a:spcBef>
          <a:spcPts val="500"/>
        </a:spcBef>
        <a:spcAft>
          <a:spcPts val="600"/>
        </a:spcAft>
        <a:buClr>
          <a:schemeClr val="accent6"/>
        </a:buClr>
        <a:buSzPct val="90000"/>
        <a:buFont typeface="Wingdings" panose="05000000000000000000" pitchFamily="2" charset="2"/>
        <a:buChar char="§"/>
        <a:defRPr sz="1200" kern="1200">
          <a:solidFill>
            <a:schemeClr val="tx1"/>
          </a:solidFill>
          <a:effectLst/>
          <a:latin typeface="+mn-lt"/>
          <a:ea typeface="+mn-ea"/>
          <a:cs typeface="+mn-cs"/>
        </a:defRPr>
      </a:lvl6pPr>
      <a:lvl7pPr marL="3108960" indent="-338328" algn="l" defTabSz="914400" rtl="0" eaLnBrk="1" latinLnBrk="0" hangingPunct="1">
        <a:lnSpc>
          <a:spcPct val="120000"/>
        </a:lnSpc>
        <a:spcBef>
          <a:spcPts val="500"/>
        </a:spcBef>
        <a:spcAft>
          <a:spcPts val="600"/>
        </a:spcAft>
        <a:buClr>
          <a:schemeClr val="accent6"/>
        </a:buClr>
        <a:buSzPct val="90000"/>
        <a:buFont typeface="Wingdings" panose="05000000000000000000" pitchFamily="2" charset="2"/>
        <a:buChar char="§"/>
        <a:defRPr sz="1200" kern="1200">
          <a:solidFill>
            <a:schemeClr val="tx1"/>
          </a:solidFill>
          <a:effectLst/>
          <a:latin typeface="+mn-lt"/>
          <a:ea typeface="+mn-ea"/>
          <a:cs typeface="+mn-cs"/>
        </a:defRPr>
      </a:lvl7pPr>
      <a:lvl8pPr marL="3575304" indent="-338328" algn="l" defTabSz="914400" rtl="0" eaLnBrk="1" latinLnBrk="0" hangingPunct="1">
        <a:lnSpc>
          <a:spcPct val="120000"/>
        </a:lnSpc>
        <a:spcBef>
          <a:spcPts val="500"/>
        </a:spcBef>
        <a:spcAft>
          <a:spcPts val="600"/>
        </a:spcAft>
        <a:buClr>
          <a:schemeClr val="accent6"/>
        </a:buClr>
        <a:buSzPct val="90000"/>
        <a:buFont typeface="Wingdings" panose="05000000000000000000" pitchFamily="2" charset="2"/>
        <a:buChar char="§"/>
        <a:defRPr sz="1200" kern="1200">
          <a:solidFill>
            <a:schemeClr val="tx1"/>
          </a:solidFill>
          <a:effectLst/>
          <a:latin typeface="+mn-lt"/>
          <a:ea typeface="+mn-ea"/>
          <a:cs typeface="+mn-cs"/>
        </a:defRPr>
      </a:lvl8pPr>
      <a:lvl9pPr marL="4041648" indent="-338328" algn="l" defTabSz="914400" rtl="0" eaLnBrk="1" latinLnBrk="0" hangingPunct="1">
        <a:lnSpc>
          <a:spcPct val="120000"/>
        </a:lnSpc>
        <a:spcBef>
          <a:spcPts val="500"/>
        </a:spcBef>
        <a:spcAft>
          <a:spcPts val="600"/>
        </a:spcAft>
        <a:buClr>
          <a:schemeClr val="accent6"/>
        </a:buClr>
        <a:buSzPct val="90000"/>
        <a:buFont typeface="Wingdings" panose="05000000000000000000" pitchFamily="2" charset="2"/>
        <a:buChar char="§"/>
        <a:defRPr sz="1200" kern="1200">
          <a:solidFill>
            <a:schemeClr val="tx1"/>
          </a:solidFill>
          <a:effectLst/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0.png"/><Relationship Id="rId5" Type="http://schemas.openxmlformats.org/officeDocument/2006/relationships/image" Target="../media/image9.png"/><Relationship Id="rId4" Type="http://schemas.openxmlformats.org/officeDocument/2006/relationships/image" Target="../media/image8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hyperlink" Target="https://drive.google.com/file/d/1bTZAPYUFGMByg1zFmahwQTzttGkAHAyT/view?usp=sharing" TargetMode="External"/><Relationship Id="rId2" Type="http://schemas.openxmlformats.org/officeDocument/2006/relationships/hyperlink" Target="https://github.com/aryansengar007/brain-tumor-classifier" TargetMode="External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5C900B7-EB41-92F3-36D1-582786B5F3AD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069255" y="661943"/>
            <a:ext cx="7883914" cy="3989569"/>
          </a:xfrm>
        </p:spPr>
        <p:txBody>
          <a:bodyPr>
            <a:normAutofit/>
          </a:bodyPr>
          <a:lstStyle/>
          <a:p>
            <a:pPr algn="l"/>
            <a:r>
              <a:rPr lang="en-US" b="1" dirty="0"/>
              <a:t>Brain Tumor Classification Using Deep Learning</a:t>
            </a:r>
            <a:br>
              <a:rPr lang="en-US" b="1" dirty="0"/>
            </a:br>
            <a:endParaRPr lang="en-IN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7FE0EA31-F681-931D-53C9-12C757BDCBC4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2337683" y="3423037"/>
            <a:ext cx="5792191" cy="439309"/>
          </a:xfrm>
        </p:spPr>
        <p:txBody>
          <a:bodyPr/>
          <a:lstStyle/>
          <a:p>
            <a:pPr algn="l"/>
            <a:r>
              <a:rPr lang="en-US" i="1" dirty="0"/>
              <a:t>A </a:t>
            </a:r>
            <a:r>
              <a:rPr lang="en-US" i="1" dirty="0" err="1"/>
              <a:t>Streamlit</a:t>
            </a:r>
            <a:r>
              <a:rPr lang="en-US" i="1" dirty="0"/>
              <a:t>-based AI Tool for Medical Image Diagnosis</a:t>
            </a:r>
            <a:endParaRPr lang="en-IN" dirty="0"/>
          </a:p>
        </p:txBody>
      </p:sp>
      <p:sp>
        <p:nvSpPr>
          <p:cNvPr id="4" name="Subtitle 2">
            <a:extLst>
              <a:ext uri="{FF2B5EF4-FFF2-40B4-BE49-F238E27FC236}">
                <a16:creationId xmlns:a16="http://schemas.microsoft.com/office/drawing/2014/main" id="{A6A2021A-20FD-1FC0-06EA-457944DDC162}"/>
              </a:ext>
            </a:extLst>
          </p:cNvPr>
          <p:cNvSpPr txBox="1">
            <a:spLocks/>
          </p:cNvSpPr>
          <p:nvPr/>
        </p:nvSpPr>
        <p:spPr>
          <a:xfrm>
            <a:off x="6399809" y="4037274"/>
            <a:ext cx="5792191" cy="439309"/>
          </a:xfrm>
          <a:prstGeom prst="rect">
            <a:avLst/>
          </a:prstGeom>
        </p:spPr>
        <p:txBody>
          <a:bodyPr vert="horz" lIns="91440" tIns="0" rIns="91440" bIns="45720" rtlCol="0" anchor="b">
            <a:normAutofit/>
          </a:bodyPr>
          <a:lstStyle>
            <a:lvl1pPr marL="0" indent="0" algn="r" defTabSz="914400" rtl="0" eaLnBrk="1" latinLnBrk="0" hangingPunct="1">
              <a:lnSpc>
                <a:spcPct val="120000"/>
              </a:lnSpc>
              <a:spcBef>
                <a:spcPts val="500"/>
              </a:spcBef>
              <a:spcAft>
                <a:spcPts val="600"/>
              </a:spcAft>
              <a:buClr>
                <a:schemeClr val="accent6"/>
              </a:buClr>
              <a:buSzPct val="90000"/>
              <a:buFont typeface="Wingdings" panose="05000000000000000000" pitchFamily="2" charset="2"/>
              <a:buNone/>
              <a:defRPr sz="1800" b="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lnSpc>
                <a:spcPct val="120000"/>
              </a:lnSpc>
              <a:spcBef>
                <a:spcPts val="500"/>
              </a:spcBef>
              <a:spcAft>
                <a:spcPts val="600"/>
              </a:spcAft>
              <a:buClr>
                <a:schemeClr val="accent6"/>
              </a:buClr>
              <a:buSzPct val="90000"/>
              <a:buFont typeface="Wingdings" panose="05000000000000000000" pitchFamily="2" charset="2"/>
              <a:buNone/>
              <a:defRPr sz="18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lnSpc>
                <a:spcPct val="120000"/>
              </a:lnSpc>
              <a:spcBef>
                <a:spcPts val="500"/>
              </a:spcBef>
              <a:spcAft>
                <a:spcPts val="600"/>
              </a:spcAft>
              <a:buClr>
                <a:schemeClr val="accent6"/>
              </a:buClr>
              <a:buSzPct val="90000"/>
              <a:buFont typeface="Wingdings" panose="05000000000000000000" pitchFamily="2" charset="2"/>
              <a:buNone/>
              <a:defRPr sz="18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lnSpc>
                <a:spcPct val="120000"/>
              </a:lnSpc>
              <a:spcBef>
                <a:spcPts val="500"/>
              </a:spcBef>
              <a:spcAft>
                <a:spcPts val="600"/>
              </a:spcAft>
              <a:buClr>
                <a:schemeClr val="accent6"/>
              </a:buClr>
              <a:buSzPct val="90000"/>
              <a:buFont typeface="Wingdings" panose="05000000000000000000" pitchFamily="2" charset="2"/>
              <a:buNone/>
              <a:defRPr sz="16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lnSpc>
                <a:spcPct val="120000"/>
              </a:lnSpc>
              <a:spcBef>
                <a:spcPts val="500"/>
              </a:spcBef>
              <a:spcAft>
                <a:spcPts val="600"/>
              </a:spcAft>
              <a:buClr>
                <a:schemeClr val="accent6"/>
              </a:buClr>
              <a:buSzPct val="90000"/>
              <a:buFont typeface="Wingdings" panose="05000000000000000000" pitchFamily="2" charset="2"/>
              <a:buNone/>
              <a:defRPr sz="16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lnSpc>
                <a:spcPct val="120000"/>
              </a:lnSpc>
              <a:spcBef>
                <a:spcPts val="500"/>
              </a:spcBef>
              <a:spcAft>
                <a:spcPts val="600"/>
              </a:spcAft>
              <a:buClr>
                <a:schemeClr val="accent6"/>
              </a:buClr>
              <a:buSzPct val="90000"/>
              <a:buFont typeface="Wingdings" panose="05000000000000000000" pitchFamily="2" charset="2"/>
              <a:buNone/>
              <a:defRPr sz="16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120000"/>
              </a:lnSpc>
              <a:spcBef>
                <a:spcPts val="500"/>
              </a:spcBef>
              <a:spcAft>
                <a:spcPts val="600"/>
              </a:spcAft>
              <a:buClr>
                <a:schemeClr val="accent6"/>
              </a:buClr>
              <a:buSzPct val="90000"/>
              <a:buFont typeface="Wingdings" panose="05000000000000000000" pitchFamily="2" charset="2"/>
              <a:buNone/>
              <a:defRPr sz="16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120000"/>
              </a:lnSpc>
              <a:spcBef>
                <a:spcPts val="500"/>
              </a:spcBef>
              <a:spcAft>
                <a:spcPts val="600"/>
              </a:spcAft>
              <a:buClr>
                <a:schemeClr val="accent6"/>
              </a:buClr>
              <a:buSzPct val="90000"/>
              <a:buFont typeface="Wingdings" panose="05000000000000000000" pitchFamily="2" charset="2"/>
              <a:buNone/>
              <a:defRPr sz="16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120000"/>
              </a:lnSpc>
              <a:spcBef>
                <a:spcPts val="500"/>
              </a:spcBef>
              <a:spcAft>
                <a:spcPts val="600"/>
              </a:spcAft>
              <a:buClr>
                <a:schemeClr val="accent6"/>
              </a:buClr>
              <a:buSzPct val="90000"/>
              <a:buFont typeface="Wingdings" panose="05000000000000000000" pitchFamily="2" charset="2"/>
              <a:buNone/>
              <a:defRPr sz="16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defRPr>
            </a:lvl9pPr>
          </a:lstStyle>
          <a:p>
            <a:pPr algn="l"/>
            <a:r>
              <a:rPr lang="en-US" i="1" dirty="0"/>
              <a:t>By – Aryan Sengar</a:t>
            </a: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3581192177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Google Shape;112;p27">
            <a:extLst>
              <a:ext uri="{FF2B5EF4-FFF2-40B4-BE49-F238E27FC236}">
                <a16:creationId xmlns:a16="http://schemas.microsoft.com/office/drawing/2014/main" id="{A497EB60-4B2A-2C32-5CC1-3160881CD698}"/>
              </a:ext>
            </a:extLst>
          </p:cNvPr>
          <p:cNvSpPr txBox="1"/>
          <p:nvPr/>
        </p:nvSpPr>
        <p:spPr>
          <a:xfrm>
            <a:off x="1383098" y="1080389"/>
            <a:ext cx="9560346" cy="10124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lvl="0">
              <a:buSzPts val="1800"/>
            </a:pPr>
            <a:r>
              <a:rPr lang="en-IN" sz="2000" b="1" dirty="0">
                <a:latin typeface="Google Sans" panose="020B0604020202020204" charset="0"/>
                <a:ea typeface="Google Sans" panose="020B0604020202020204" charset="0"/>
                <a:cs typeface="Google Sans" panose="020B0604020202020204" charset="0"/>
              </a:rPr>
              <a:t>Problem Overview:</a:t>
            </a:r>
          </a:p>
        </p:txBody>
      </p:sp>
      <p:sp>
        <p:nvSpPr>
          <p:cNvPr id="5" name="Google Shape;112;p27">
            <a:extLst>
              <a:ext uri="{FF2B5EF4-FFF2-40B4-BE49-F238E27FC236}">
                <a16:creationId xmlns:a16="http://schemas.microsoft.com/office/drawing/2014/main" id="{DEFC4F6C-EB69-82C9-AC03-56EFB77C51E0}"/>
              </a:ext>
            </a:extLst>
          </p:cNvPr>
          <p:cNvSpPr txBox="1"/>
          <p:nvPr/>
        </p:nvSpPr>
        <p:spPr>
          <a:xfrm>
            <a:off x="1531724" y="1586599"/>
            <a:ext cx="9560346" cy="444500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r>
              <a:rPr lang="en-US" dirty="0">
                <a:latin typeface="Google Sans" panose="020B0604020202020204" charset="0"/>
                <a:ea typeface="Google Sans" panose="020B0604020202020204" charset="0"/>
                <a:cs typeface="Google Sans" panose="020B0604020202020204" charset="0"/>
              </a:rPr>
              <a:t>Brain tumors are life-threatening medical conditions that require </a:t>
            </a:r>
            <a:r>
              <a:rPr lang="en-US" b="1" dirty="0">
                <a:latin typeface="Google Sans" panose="020B0604020202020204" charset="0"/>
                <a:ea typeface="Google Sans" panose="020B0604020202020204" charset="0"/>
                <a:cs typeface="Google Sans" panose="020B0604020202020204" charset="0"/>
              </a:rPr>
              <a:t>early and accurate diagnosis</a:t>
            </a:r>
            <a:r>
              <a:rPr lang="en-US" dirty="0">
                <a:latin typeface="Google Sans" panose="020B0604020202020204" charset="0"/>
                <a:ea typeface="Google Sans" panose="020B0604020202020204" charset="0"/>
                <a:cs typeface="Google Sans" panose="020B0604020202020204" charset="0"/>
              </a:rPr>
              <a:t>.</a:t>
            </a:r>
            <a:br>
              <a:rPr lang="en-US" dirty="0">
                <a:latin typeface="Google Sans" panose="020B0604020202020204" charset="0"/>
                <a:ea typeface="Google Sans" panose="020B0604020202020204" charset="0"/>
                <a:cs typeface="Google Sans" panose="020B0604020202020204" charset="0"/>
              </a:rPr>
            </a:br>
            <a:r>
              <a:rPr lang="en-US" dirty="0">
                <a:latin typeface="Google Sans" panose="020B0604020202020204" charset="0"/>
                <a:ea typeface="Google Sans" panose="020B0604020202020204" charset="0"/>
                <a:cs typeface="Google Sans" panose="020B0604020202020204" charset="0"/>
              </a:rPr>
              <a:t>Currently, radiologists rely on </a:t>
            </a:r>
            <a:r>
              <a:rPr lang="en-US" b="1" dirty="0">
                <a:latin typeface="Google Sans" panose="020B0604020202020204" charset="0"/>
                <a:ea typeface="Google Sans" panose="020B0604020202020204" charset="0"/>
                <a:cs typeface="Google Sans" panose="020B0604020202020204" charset="0"/>
              </a:rPr>
              <a:t>manual inspection of MRI and CT scans</a:t>
            </a:r>
            <a:r>
              <a:rPr lang="en-US" dirty="0">
                <a:latin typeface="Google Sans" panose="020B0604020202020204" charset="0"/>
                <a:ea typeface="Google Sans" panose="020B0604020202020204" charset="0"/>
                <a:cs typeface="Google Sans" panose="020B0604020202020204" charset="0"/>
              </a:rPr>
              <a:t>, which is:</a:t>
            </a:r>
          </a:p>
          <a:p>
            <a:r>
              <a:rPr lang="en-US" dirty="0">
                <a:latin typeface="Google Sans" panose="020B0604020202020204" charset="0"/>
                <a:ea typeface="Google Sans" panose="020B0604020202020204" charset="0"/>
                <a:cs typeface="Google Sans" panose="020B0604020202020204" charset="0"/>
              </a:rPr>
              <a:t>Time-consuming</a:t>
            </a:r>
          </a:p>
          <a:p>
            <a:r>
              <a:rPr lang="en-US" dirty="0">
                <a:latin typeface="Google Sans" panose="020B0604020202020204" charset="0"/>
                <a:ea typeface="Google Sans" panose="020B0604020202020204" charset="0"/>
                <a:cs typeface="Google Sans" panose="020B0604020202020204" charset="0"/>
              </a:rPr>
              <a:t>Prone to human error</a:t>
            </a:r>
          </a:p>
          <a:p>
            <a:r>
              <a:rPr lang="en-US" dirty="0">
                <a:latin typeface="Google Sans" panose="020B0604020202020204" charset="0"/>
                <a:ea typeface="Google Sans" panose="020B0604020202020204" charset="0"/>
                <a:cs typeface="Google Sans" panose="020B0604020202020204" charset="0"/>
              </a:rPr>
              <a:t>Inconsistent across professionals</a:t>
            </a:r>
          </a:p>
          <a:p>
            <a:r>
              <a:rPr lang="en-US" dirty="0">
                <a:latin typeface="Google Sans" panose="020B0604020202020204" charset="0"/>
                <a:ea typeface="Google Sans" panose="020B0604020202020204" charset="0"/>
                <a:cs typeface="Google Sans" panose="020B0604020202020204" charset="0"/>
              </a:rPr>
              <a:t>Difficult to scale for large patient volumes</a:t>
            </a:r>
          </a:p>
        </p:txBody>
      </p:sp>
      <p:sp>
        <p:nvSpPr>
          <p:cNvPr id="6" name="Google Shape;112;p27">
            <a:extLst>
              <a:ext uri="{FF2B5EF4-FFF2-40B4-BE49-F238E27FC236}">
                <a16:creationId xmlns:a16="http://schemas.microsoft.com/office/drawing/2014/main" id="{213B7E7A-BE47-11D0-4A17-878F108AE556}"/>
              </a:ext>
            </a:extLst>
          </p:cNvPr>
          <p:cNvSpPr txBox="1"/>
          <p:nvPr/>
        </p:nvSpPr>
        <p:spPr>
          <a:xfrm>
            <a:off x="1383098" y="3975009"/>
            <a:ext cx="9560346" cy="10124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lvl="0">
              <a:buSzPts val="1800"/>
            </a:pPr>
            <a:r>
              <a:rPr lang="en-IN" sz="2000" b="1" dirty="0">
                <a:latin typeface="Google Sans" panose="020B0604020202020204" charset="0"/>
                <a:ea typeface="Google Sans" panose="020B0604020202020204" charset="0"/>
                <a:cs typeface="Google Sans" panose="020B0604020202020204" charset="0"/>
              </a:rPr>
              <a:t>Problem to Solve:</a:t>
            </a:r>
          </a:p>
        </p:txBody>
      </p:sp>
      <p:sp>
        <p:nvSpPr>
          <p:cNvPr id="7" name="Google Shape;112;p27">
            <a:extLst>
              <a:ext uri="{FF2B5EF4-FFF2-40B4-BE49-F238E27FC236}">
                <a16:creationId xmlns:a16="http://schemas.microsoft.com/office/drawing/2014/main" id="{83537A16-7EF9-E735-FB01-3DAA71DF7CF5}"/>
              </a:ext>
            </a:extLst>
          </p:cNvPr>
          <p:cNvSpPr txBox="1"/>
          <p:nvPr/>
        </p:nvSpPr>
        <p:spPr>
          <a:xfrm>
            <a:off x="1531724" y="4577597"/>
            <a:ext cx="9560346" cy="160939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r>
              <a:rPr lang="en-US" dirty="0">
                <a:latin typeface="Google Sans" panose="020B0604020202020204" charset="0"/>
                <a:ea typeface="Google Sans" panose="020B0604020202020204" charset="0"/>
                <a:cs typeface="Google Sans" panose="020B0604020202020204" charset="0"/>
              </a:rPr>
              <a:t>How can we leverage </a:t>
            </a:r>
            <a:r>
              <a:rPr lang="en-US" b="1" dirty="0">
                <a:latin typeface="Google Sans" panose="020B0604020202020204" charset="0"/>
                <a:ea typeface="Google Sans" panose="020B0604020202020204" charset="0"/>
                <a:cs typeface="Google Sans" panose="020B0604020202020204" charset="0"/>
              </a:rPr>
              <a:t>Artificial Intelligence</a:t>
            </a:r>
            <a:r>
              <a:rPr lang="en-US" dirty="0">
                <a:latin typeface="Google Sans" panose="020B0604020202020204" charset="0"/>
                <a:ea typeface="Google Sans" panose="020B0604020202020204" charset="0"/>
                <a:cs typeface="Google Sans" panose="020B0604020202020204" charset="0"/>
              </a:rPr>
              <a:t> to assist clinicians by providing </a:t>
            </a:r>
            <a:r>
              <a:rPr lang="en-US" b="1" dirty="0">
                <a:latin typeface="Google Sans" panose="020B0604020202020204" charset="0"/>
                <a:ea typeface="Google Sans" panose="020B0604020202020204" charset="0"/>
                <a:cs typeface="Google Sans" panose="020B0604020202020204" charset="0"/>
              </a:rPr>
              <a:t>fast, reliable, and explainable</a:t>
            </a:r>
            <a:r>
              <a:rPr lang="en-US" dirty="0">
                <a:latin typeface="Google Sans" panose="020B0604020202020204" charset="0"/>
                <a:ea typeface="Google Sans" panose="020B0604020202020204" charset="0"/>
                <a:cs typeface="Google Sans" panose="020B0604020202020204" charset="0"/>
              </a:rPr>
              <a:t> brain tumor detection?</a:t>
            </a:r>
          </a:p>
        </p:txBody>
      </p:sp>
    </p:spTree>
    <p:extLst>
      <p:ext uri="{BB962C8B-B14F-4D97-AF65-F5344CB8AC3E}">
        <p14:creationId xmlns:p14="http://schemas.microsoft.com/office/powerpoint/2010/main" val="1601336329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Google Shape;112;p27">
            <a:extLst>
              <a:ext uri="{FF2B5EF4-FFF2-40B4-BE49-F238E27FC236}">
                <a16:creationId xmlns:a16="http://schemas.microsoft.com/office/drawing/2014/main" id="{D387237F-BE1B-478B-3DDA-FFEC10DECAE7}"/>
              </a:ext>
            </a:extLst>
          </p:cNvPr>
          <p:cNvSpPr txBox="1"/>
          <p:nvPr/>
        </p:nvSpPr>
        <p:spPr>
          <a:xfrm>
            <a:off x="1523784" y="1224832"/>
            <a:ext cx="8943000" cy="41882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lvl="0">
              <a:buSzPts val="1800"/>
            </a:pPr>
            <a:r>
              <a:rPr lang="en-IN" sz="2000" b="1" dirty="0">
                <a:latin typeface="Google Sans" panose="020B0604020202020204" charset="0"/>
                <a:ea typeface="Google Sans" panose="020B0604020202020204" charset="0"/>
                <a:cs typeface="Google Sans" panose="020B0604020202020204" charset="0"/>
              </a:rPr>
              <a:t>Proposed Solution:</a:t>
            </a:r>
          </a:p>
        </p:txBody>
      </p:sp>
      <p:sp>
        <p:nvSpPr>
          <p:cNvPr id="5" name="Google Shape;112;p27">
            <a:extLst>
              <a:ext uri="{FF2B5EF4-FFF2-40B4-BE49-F238E27FC236}">
                <a16:creationId xmlns:a16="http://schemas.microsoft.com/office/drawing/2014/main" id="{38B282C5-A00D-6B9C-820B-EFE6B7104087}"/>
              </a:ext>
            </a:extLst>
          </p:cNvPr>
          <p:cNvSpPr txBox="1"/>
          <p:nvPr/>
        </p:nvSpPr>
        <p:spPr>
          <a:xfrm>
            <a:off x="1707334" y="1807470"/>
            <a:ext cx="8943000" cy="114576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r>
              <a:rPr lang="en-US" dirty="0">
                <a:latin typeface="Google Sans" panose="020B0604020202020204" charset="0"/>
                <a:ea typeface="Google Sans" panose="020B0604020202020204" charset="0"/>
                <a:cs typeface="Google Sans" panose="020B0604020202020204" charset="0"/>
              </a:rPr>
              <a:t>We developed an </a:t>
            </a:r>
            <a:r>
              <a:rPr lang="en-US" b="1" dirty="0">
                <a:latin typeface="Google Sans" panose="020B0604020202020204" charset="0"/>
                <a:ea typeface="Google Sans" panose="020B0604020202020204" charset="0"/>
                <a:cs typeface="Google Sans" panose="020B0604020202020204" charset="0"/>
              </a:rPr>
              <a:t>AI-powered Brain Tumor Classification System</a:t>
            </a:r>
            <a:r>
              <a:rPr lang="en-US" dirty="0">
                <a:latin typeface="Google Sans" panose="020B0604020202020204" charset="0"/>
                <a:ea typeface="Google Sans" panose="020B0604020202020204" charset="0"/>
                <a:cs typeface="Google Sans" panose="020B0604020202020204" charset="0"/>
              </a:rPr>
              <a:t> using </a:t>
            </a:r>
            <a:r>
              <a:rPr lang="en-US" b="1" dirty="0">
                <a:latin typeface="Google Sans" panose="020B0604020202020204" charset="0"/>
                <a:ea typeface="Google Sans" panose="020B0604020202020204" charset="0"/>
                <a:cs typeface="Google Sans" panose="020B0604020202020204" charset="0"/>
              </a:rPr>
              <a:t>Deep Learning (CNNs)</a:t>
            </a:r>
            <a:r>
              <a:rPr lang="en-US" dirty="0">
                <a:latin typeface="Google Sans" panose="020B0604020202020204" charset="0"/>
                <a:ea typeface="Google Sans" panose="020B0604020202020204" charset="0"/>
                <a:cs typeface="Google Sans" panose="020B0604020202020204" charset="0"/>
              </a:rPr>
              <a:t> that classifies brain MRI and CT images as: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b="1" dirty="0">
                <a:latin typeface="Google Sans" panose="020B0604020202020204" charset="0"/>
                <a:ea typeface="Google Sans" panose="020B0604020202020204" charset="0"/>
                <a:cs typeface="Google Sans" panose="020B0604020202020204" charset="0"/>
              </a:rPr>
              <a:t>Healthy</a:t>
            </a:r>
            <a:endParaRPr lang="en-US" dirty="0">
              <a:latin typeface="Google Sans" panose="020B0604020202020204" charset="0"/>
              <a:ea typeface="Google Sans" panose="020B0604020202020204" charset="0"/>
              <a:cs typeface="Google Sans" panose="020B0604020202020204" charset="0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b="1" dirty="0">
                <a:latin typeface="Google Sans" panose="020B0604020202020204" charset="0"/>
                <a:ea typeface="Google Sans" panose="020B0604020202020204" charset="0"/>
                <a:cs typeface="Google Sans" panose="020B0604020202020204" charset="0"/>
              </a:rPr>
              <a:t>Tumor</a:t>
            </a:r>
            <a:endParaRPr lang="en-US" dirty="0">
              <a:latin typeface="Google Sans" panose="020B0604020202020204" charset="0"/>
              <a:ea typeface="Google Sans" panose="020B0604020202020204" charset="0"/>
              <a:cs typeface="Google Sans" panose="020B0604020202020204" charset="0"/>
            </a:endParaRPr>
          </a:p>
        </p:txBody>
      </p:sp>
      <p:sp>
        <p:nvSpPr>
          <p:cNvPr id="6" name="Google Shape;112;p27">
            <a:extLst>
              <a:ext uri="{FF2B5EF4-FFF2-40B4-BE49-F238E27FC236}">
                <a16:creationId xmlns:a16="http://schemas.microsoft.com/office/drawing/2014/main" id="{5E821798-A0DA-E9FA-E664-A7F04E740C31}"/>
              </a:ext>
            </a:extLst>
          </p:cNvPr>
          <p:cNvSpPr txBox="1"/>
          <p:nvPr/>
        </p:nvSpPr>
        <p:spPr>
          <a:xfrm>
            <a:off x="1523784" y="3485938"/>
            <a:ext cx="8943000" cy="41882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lvl="0">
              <a:buSzPts val="1800"/>
            </a:pPr>
            <a:r>
              <a:rPr lang="en-IN" sz="2000" b="1" dirty="0">
                <a:latin typeface="Google Sans" panose="020B0604020202020204" charset="0"/>
                <a:ea typeface="Google Sans" panose="020B0604020202020204" charset="0"/>
                <a:cs typeface="Google Sans" panose="020B0604020202020204" charset="0"/>
              </a:rPr>
              <a:t>Key Highlights:</a:t>
            </a:r>
          </a:p>
        </p:txBody>
      </p:sp>
      <p:sp>
        <p:nvSpPr>
          <p:cNvPr id="7" name="Rectangle 2">
            <a:extLst>
              <a:ext uri="{FF2B5EF4-FFF2-40B4-BE49-F238E27FC236}">
                <a16:creationId xmlns:a16="http://schemas.microsoft.com/office/drawing/2014/main" id="{A82D2387-072A-628F-3C99-7FCA28A4BF0E}"/>
              </a:ext>
            </a:extLst>
          </p:cNvPr>
          <p:cNvSpPr>
            <a:spLocks noChangeArrowheads="1"/>
          </p:cNvSpPr>
          <p:nvPr/>
        </p:nvSpPr>
        <p:spPr bwMode="auto">
          <a:xfrm>
            <a:off x="1523784" y="4056853"/>
            <a:ext cx="8734926" cy="147732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285750" marR="0" lvl="0" indent="-28575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Google Sans" panose="020B0604020202020204" charset="0"/>
                <a:ea typeface="Google Sans" panose="020B0604020202020204" charset="0"/>
                <a:cs typeface="Google Sans" panose="020B0604020202020204" charset="0"/>
              </a:rPr>
              <a:t> Real-time image classification</a:t>
            </a:r>
          </a:p>
          <a:p>
            <a:pPr marL="285750" marR="0" lvl="0" indent="-28575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Google Sans" panose="020B0604020202020204" charset="0"/>
                <a:ea typeface="Google Sans" panose="020B0604020202020204" charset="0"/>
                <a:cs typeface="Google Sans" panose="020B0604020202020204" charset="0"/>
              </a:rPr>
              <a:t> Prediction confidence and visualization</a:t>
            </a:r>
          </a:p>
          <a:p>
            <a:pPr marL="285750" marR="0" lvl="0" indent="-28575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Google Sans" panose="020B0604020202020204" charset="0"/>
                <a:ea typeface="Google Sans" panose="020B0604020202020204" charset="0"/>
                <a:cs typeface="Google Sans" panose="020B0604020202020204" charset="0"/>
              </a:rPr>
              <a:t> Batch image processing</a:t>
            </a:r>
          </a:p>
          <a:p>
            <a:pPr marL="285750" marR="0" lvl="0" indent="-28575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Google Sans" panose="020B0604020202020204" charset="0"/>
                <a:ea typeface="Google Sans" panose="020B0604020202020204" charset="0"/>
                <a:cs typeface="Google Sans" panose="020B0604020202020204" charset="0"/>
              </a:rPr>
              <a:t> Auto-generated diagnostic PDF reports</a:t>
            </a:r>
          </a:p>
          <a:p>
            <a:pPr marL="285750" marR="0" lvl="0" indent="-28575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Google Sans" panose="020B0604020202020204" charset="0"/>
                <a:ea typeface="Google Sans" panose="020B0604020202020204" charset="0"/>
                <a:cs typeface="Google Sans" panose="020B0604020202020204" charset="0"/>
              </a:rPr>
              <a:t> Simple and intuitive </a:t>
            </a:r>
            <a:r>
              <a:rPr kumimoji="0" lang="en-US" altLang="en-US" b="1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Google Sans" panose="020B0604020202020204" charset="0"/>
                <a:ea typeface="Google Sans" panose="020B0604020202020204" charset="0"/>
                <a:cs typeface="Google Sans" panose="020B0604020202020204" charset="0"/>
              </a:rPr>
              <a:t>Streamlit</a:t>
            </a:r>
            <a:r>
              <a:rPr kumimoji="0" lang="en-US" altLang="en-US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Google Sans" panose="020B0604020202020204" charset="0"/>
                <a:ea typeface="Google Sans" panose="020B0604020202020204" charset="0"/>
                <a:cs typeface="Google Sans" panose="020B0604020202020204" charset="0"/>
              </a:rPr>
              <a:t>-based web interface</a:t>
            </a:r>
            <a:endParaRPr kumimoji="0" lang="en-US" altLang="en-US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Google Sans" panose="020B0604020202020204" charset="0"/>
              <a:ea typeface="Google Sans" panose="020B0604020202020204" charset="0"/>
              <a:cs typeface="Google Sans" panose="020B060402020202020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741360430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Google Shape;112;p27">
            <a:extLst>
              <a:ext uri="{FF2B5EF4-FFF2-40B4-BE49-F238E27FC236}">
                <a16:creationId xmlns:a16="http://schemas.microsoft.com/office/drawing/2014/main" id="{89B1F981-13E6-2C84-3D38-1D8891241A7E}"/>
              </a:ext>
            </a:extLst>
          </p:cNvPr>
          <p:cNvSpPr txBox="1"/>
          <p:nvPr/>
        </p:nvSpPr>
        <p:spPr>
          <a:xfrm>
            <a:off x="1624500" y="1249181"/>
            <a:ext cx="8943000" cy="41882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lvl="0">
              <a:buSzPts val="1800"/>
            </a:pPr>
            <a:r>
              <a:rPr lang="en-US" sz="2000" b="1" dirty="0">
                <a:latin typeface="Google Sans" panose="020B0604020202020204" charset="0"/>
                <a:ea typeface="Google Sans" panose="020B0604020202020204" charset="0"/>
                <a:cs typeface="Google Sans" panose="020B0604020202020204" charset="0"/>
              </a:rPr>
              <a:t>How is this solution different?</a:t>
            </a:r>
            <a:endParaRPr lang="en-IN" sz="2000" b="1" dirty="0">
              <a:latin typeface="Google Sans" panose="020B0604020202020204" charset="0"/>
              <a:ea typeface="Google Sans" panose="020B0604020202020204" charset="0"/>
              <a:cs typeface="Google Sans" panose="020B0604020202020204" charset="0"/>
            </a:endParaRPr>
          </a:p>
        </p:txBody>
      </p:sp>
      <p:sp>
        <p:nvSpPr>
          <p:cNvPr id="6" name="Google Shape;112;p27">
            <a:extLst>
              <a:ext uri="{FF2B5EF4-FFF2-40B4-BE49-F238E27FC236}">
                <a16:creationId xmlns:a16="http://schemas.microsoft.com/office/drawing/2014/main" id="{9066F9E5-9ECF-A361-BFF5-FC2E8150F195}"/>
              </a:ext>
            </a:extLst>
          </p:cNvPr>
          <p:cNvSpPr txBox="1"/>
          <p:nvPr/>
        </p:nvSpPr>
        <p:spPr>
          <a:xfrm>
            <a:off x="1683799" y="3578302"/>
            <a:ext cx="8943000" cy="41882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lvl="0">
              <a:buSzPts val="1800"/>
            </a:pPr>
            <a:r>
              <a:rPr lang="en-US" sz="2000" b="1" dirty="0">
                <a:latin typeface="Google Sans" panose="020B0604020202020204" charset="0"/>
                <a:ea typeface="Google Sans" panose="020B0604020202020204" charset="0"/>
                <a:cs typeface="Google Sans" panose="020B0604020202020204" charset="0"/>
              </a:rPr>
              <a:t>How does it solve the problem?</a:t>
            </a:r>
            <a:endParaRPr lang="en-IN" sz="2000" b="1" dirty="0">
              <a:latin typeface="Google Sans" panose="020B0604020202020204" charset="0"/>
              <a:ea typeface="Google Sans" panose="020B0604020202020204" charset="0"/>
              <a:cs typeface="Google Sans" panose="020B0604020202020204" charset="0"/>
            </a:endParaRPr>
          </a:p>
        </p:txBody>
      </p:sp>
      <p:sp>
        <p:nvSpPr>
          <p:cNvPr id="7" name="Rectangle 1">
            <a:extLst>
              <a:ext uri="{FF2B5EF4-FFF2-40B4-BE49-F238E27FC236}">
                <a16:creationId xmlns:a16="http://schemas.microsoft.com/office/drawing/2014/main" id="{E72B3F60-AEE0-6647-91A2-72CD07A8E7EC}"/>
              </a:ext>
            </a:extLst>
          </p:cNvPr>
          <p:cNvSpPr>
            <a:spLocks noChangeArrowheads="1"/>
          </p:cNvSpPr>
          <p:nvPr/>
        </p:nvSpPr>
        <p:spPr bwMode="auto">
          <a:xfrm rot="10800000" flipV="1">
            <a:off x="1683799" y="1810759"/>
            <a:ext cx="7543800" cy="120032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285750" marR="0" lvl="0" indent="-28575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Google Sans" panose="020B0604020202020204" charset="0"/>
                <a:ea typeface="Google Sans" panose="020B0604020202020204" charset="0"/>
                <a:cs typeface="Google Sans" panose="020B0604020202020204" charset="0"/>
              </a:rPr>
              <a:t>Combines </a:t>
            </a:r>
            <a:r>
              <a:rPr kumimoji="0" lang="en-US" altLang="en-US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Google Sans" panose="020B0604020202020204" charset="0"/>
                <a:ea typeface="Google Sans" panose="020B0604020202020204" charset="0"/>
                <a:cs typeface="Google Sans" panose="020B0604020202020204" charset="0"/>
              </a:rPr>
              <a:t>deep learning + visualization + reporting</a:t>
            </a: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Google Sans" panose="020B0604020202020204" charset="0"/>
                <a:ea typeface="Google Sans" panose="020B0604020202020204" charset="0"/>
                <a:cs typeface="Google Sans" panose="020B0604020202020204" charset="0"/>
              </a:rPr>
              <a:t> in one platform</a:t>
            </a:r>
          </a:p>
          <a:p>
            <a:pPr marL="285750" marR="0" lvl="0" indent="-28575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Google Sans" panose="020B0604020202020204" charset="0"/>
                <a:ea typeface="Google Sans" panose="020B0604020202020204" charset="0"/>
                <a:cs typeface="Google Sans" panose="020B0604020202020204" charset="0"/>
              </a:rPr>
              <a:t>Provides </a:t>
            </a:r>
            <a:r>
              <a:rPr kumimoji="0" lang="en-US" altLang="en-US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Google Sans" panose="020B0604020202020204" charset="0"/>
                <a:ea typeface="Google Sans" panose="020B0604020202020204" charset="0"/>
                <a:cs typeface="Google Sans" panose="020B0604020202020204" charset="0"/>
              </a:rPr>
              <a:t>confidence scores</a:t>
            </a: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Google Sans" panose="020B0604020202020204" charset="0"/>
                <a:ea typeface="Google Sans" panose="020B0604020202020204" charset="0"/>
                <a:cs typeface="Google Sans" panose="020B0604020202020204" charset="0"/>
              </a:rPr>
              <a:t> instead of black-box predictions</a:t>
            </a:r>
          </a:p>
          <a:p>
            <a:pPr marL="285750" marR="0" lvl="0" indent="-28575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Google Sans" panose="020B0604020202020204" charset="0"/>
                <a:ea typeface="Google Sans" panose="020B0604020202020204" charset="0"/>
                <a:cs typeface="Google Sans" panose="020B0604020202020204" charset="0"/>
              </a:rPr>
              <a:t>Supports </a:t>
            </a:r>
            <a:r>
              <a:rPr kumimoji="0" lang="en-US" altLang="en-US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Google Sans" panose="020B0604020202020204" charset="0"/>
                <a:ea typeface="Google Sans" panose="020B0604020202020204" charset="0"/>
                <a:cs typeface="Google Sans" panose="020B0604020202020204" charset="0"/>
              </a:rPr>
              <a:t>batch classification</a:t>
            </a: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Google Sans" panose="020B0604020202020204" charset="0"/>
                <a:ea typeface="Google Sans" panose="020B0604020202020204" charset="0"/>
                <a:cs typeface="Google Sans" panose="020B0604020202020204" charset="0"/>
              </a:rPr>
              <a:t> via ZIP upload</a:t>
            </a:r>
          </a:p>
          <a:p>
            <a:pPr marL="285750" marR="0" lvl="0" indent="-28575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Google Sans" panose="020B0604020202020204" charset="0"/>
                <a:ea typeface="Google Sans" panose="020B0604020202020204" charset="0"/>
                <a:cs typeface="Google Sans" panose="020B0604020202020204" charset="0"/>
              </a:rPr>
              <a:t>Generates </a:t>
            </a:r>
            <a:r>
              <a:rPr kumimoji="0" lang="en-US" altLang="en-US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Google Sans" panose="020B0604020202020204" charset="0"/>
                <a:ea typeface="Google Sans" panose="020B0604020202020204" charset="0"/>
                <a:cs typeface="Google Sans" panose="020B0604020202020204" charset="0"/>
              </a:rPr>
              <a:t>downloadable medical-style PDF reports</a:t>
            </a:r>
            <a:endParaRPr kumimoji="0" lang="en-US" altLang="en-US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Google Sans" panose="020B0604020202020204" charset="0"/>
              <a:ea typeface="Google Sans" panose="020B0604020202020204" charset="0"/>
              <a:cs typeface="Google Sans" panose="020B0604020202020204" charset="0"/>
            </a:endParaRPr>
          </a:p>
        </p:txBody>
      </p:sp>
      <p:sp>
        <p:nvSpPr>
          <p:cNvPr id="8" name="Rectangle 2">
            <a:extLst>
              <a:ext uri="{FF2B5EF4-FFF2-40B4-BE49-F238E27FC236}">
                <a16:creationId xmlns:a16="http://schemas.microsoft.com/office/drawing/2014/main" id="{E43E9091-3D86-B8FA-CBEA-F11E1C255B97}"/>
              </a:ext>
            </a:extLst>
          </p:cNvPr>
          <p:cNvSpPr>
            <a:spLocks noChangeArrowheads="1"/>
          </p:cNvSpPr>
          <p:nvPr/>
        </p:nvSpPr>
        <p:spPr bwMode="auto">
          <a:xfrm rot="10800000" flipV="1">
            <a:off x="1767624" y="4251647"/>
            <a:ext cx="5504447" cy="147732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285750" marR="0" lvl="0" indent="-28575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r>
              <a:rPr kumimoji="0" lang="en-US" altLang="en-US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Google Sans" panose="020B0604020202020204" charset="0"/>
                <a:ea typeface="Google Sans" panose="020B0604020202020204" charset="0"/>
                <a:cs typeface="Google Sans" panose="020B0604020202020204" charset="0"/>
              </a:rPr>
              <a:t>Reduces diagnosis time</a:t>
            </a:r>
          </a:p>
          <a:p>
            <a:pPr marL="285750" marR="0" lvl="0" indent="-28575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r>
              <a:rPr kumimoji="0" lang="en-US" altLang="en-US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Google Sans" panose="020B0604020202020204" charset="0"/>
                <a:ea typeface="Google Sans" panose="020B0604020202020204" charset="0"/>
                <a:cs typeface="Google Sans" panose="020B0604020202020204" charset="0"/>
              </a:rPr>
              <a:t>Minimizes human error</a:t>
            </a:r>
          </a:p>
          <a:p>
            <a:pPr marL="285750" marR="0" lvl="0" indent="-28575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r>
              <a:rPr kumimoji="0" lang="en-US" altLang="en-US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Google Sans" panose="020B0604020202020204" charset="0"/>
                <a:ea typeface="Google Sans" panose="020B0604020202020204" charset="0"/>
                <a:cs typeface="Google Sans" panose="020B0604020202020204" charset="0"/>
              </a:rPr>
              <a:t>Assists clinicians with consistent predictions</a:t>
            </a:r>
          </a:p>
          <a:p>
            <a:pPr marL="285750" marR="0" lvl="0" indent="-28575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r>
              <a:rPr kumimoji="0" lang="en-US" altLang="en-US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Google Sans" panose="020B0604020202020204" charset="0"/>
                <a:ea typeface="Google Sans" panose="020B0604020202020204" charset="0"/>
                <a:cs typeface="Google Sans" panose="020B0604020202020204" charset="0"/>
              </a:rPr>
              <a:t>Makes AI accessible to non-technical medical users</a:t>
            </a:r>
          </a:p>
        </p:txBody>
      </p:sp>
    </p:spTree>
    <p:extLst>
      <p:ext uri="{BB962C8B-B14F-4D97-AF65-F5344CB8AC3E}">
        <p14:creationId xmlns:p14="http://schemas.microsoft.com/office/powerpoint/2010/main" val="619666377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Google Shape;112;p27">
            <a:extLst>
              <a:ext uri="{FF2B5EF4-FFF2-40B4-BE49-F238E27FC236}">
                <a16:creationId xmlns:a16="http://schemas.microsoft.com/office/drawing/2014/main" id="{BA59BB2F-DA93-3914-5FBB-F749F93B77E1}"/>
              </a:ext>
            </a:extLst>
          </p:cNvPr>
          <p:cNvSpPr txBox="1"/>
          <p:nvPr/>
        </p:nvSpPr>
        <p:spPr>
          <a:xfrm>
            <a:off x="1738469" y="1328099"/>
            <a:ext cx="8943000" cy="41882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lvl="0">
              <a:buSzPts val="1800"/>
            </a:pPr>
            <a:r>
              <a:rPr lang="en-IN" sz="2000" b="1" dirty="0">
                <a:latin typeface="Google Sans" panose="020B0604020202020204" charset="0"/>
                <a:ea typeface="Google Sans" panose="020B0604020202020204" charset="0"/>
                <a:cs typeface="Google Sans" panose="020B0604020202020204" charset="0"/>
              </a:rPr>
              <a:t>Core Features:</a:t>
            </a:r>
          </a:p>
        </p:txBody>
      </p:sp>
      <p:sp>
        <p:nvSpPr>
          <p:cNvPr id="5" name="Rectangle 1">
            <a:extLst>
              <a:ext uri="{FF2B5EF4-FFF2-40B4-BE49-F238E27FC236}">
                <a16:creationId xmlns:a16="http://schemas.microsoft.com/office/drawing/2014/main" id="{46256C7A-9439-81AE-DC0A-61C5650FCCA0}"/>
              </a:ext>
            </a:extLst>
          </p:cNvPr>
          <p:cNvSpPr>
            <a:spLocks noChangeArrowheads="1"/>
          </p:cNvSpPr>
          <p:nvPr/>
        </p:nvSpPr>
        <p:spPr bwMode="auto">
          <a:xfrm rot="10800000" flipV="1">
            <a:off x="1738469" y="2057026"/>
            <a:ext cx="7098374" cy="2308324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285750" marR="0" lvl="0" indent="-28575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Google Sans" panose="020B0604020202020204" charset="0"/>
                <a:ea typeface="Google Sans" panose="020B0604020202020204" charset="0"/>
                <a:cs typeface="Google Sans" panose="020B0604020202020204" charset="0"/>
              </a:rPr>
              <a:t>Upload MRI / CT brain scans</a:t>
            </a:r>
          </a:p>
          <a:p>
            <a:pPr marL="285750" marR="0" lvl="0" indent="-28575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Google Sans" panose="020B0604020202020204" charset="0"/>
                <a:ea typeface="Google Sans" panose="020B0604020202020204" charset="0"/>
                <a:cs typeface="Google Sans" panose="020B0604020202020204" charset="0"/>
              </a:rPr>
              <a:t>CNN-based tumor classification</a:t>
            </a:r>
          </a:p>
          <a:p>
            <a:pPr marL="285750" marR="0" lvl="0" indent="-28575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Google Sans" panose="020B0604020202020204" charset="0"/>
                <a:ea typeface="Google Sans" panose="020B0604020202020204" charset="0"/>
                <a:cs typeface="Google Sans" panose="020B0604020202020204" charset="0"/>
              </a:rPr>
              <a:t>Confidence score &amp; probability distribution</a:t>
            </a:r>
          </a:p>
          <a:p>
            <a:pPr marL="285750" marR="0" lvl="0" indent="-28575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Google Sans" panose="020B0604020202020204" charset="0"/>
                <a:ea typeface="Google Sans" panose="020B0604020202020204" charset="0"/>
                <a:cs typeface="Google Sans" panose="020B0604020202020204" charset="0"/>
              </a:rPr>
              <a:t>Original vs preprocessed image comparison</a:t>
            </a:r>
          </a:p>
          <a:p>
            <a:pPr marL="285750" marR="0" lvl="0" indent="-28575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Google Sans" panose="020B0604020202020204" charset="0"/>
                <a:ea typeface="Google Sans" panose="020B0604020202020204" charset="0"/>
                <a:cs typeface="Google Sans" panose="020B0604020202020204" charset="0"/>
              </a:rPr>
              <a:t>Batch prediction using ZIP files</a:t>
            </a:r>
          </a:p>
          <a:p>
            <a:pPr marL="285750" marR="0" lvl="0" indent="-28575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Google Sans" panose="020B0604020202020204" charset="0"/>
                <a:ea typeface="Google Sans" panose="020B0604020202020204" charset="0"/>
                <a:cs typeface="Google Sans" panose="020B0604020202020204" charset="0"/>
              </a:rPr>
              <a:t>CSV export of batch results</a:t>
            </a:r>
          </a:p>
          <a:p>
            <a:pPr marL="285750" marR="0" lvl="0" indent="-28575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Google Sans" panose="020B0604020202020204" charset="0"/>
                <a:ea typeface="Google Sans" panose="020B0604020202020204" charset="0"/>
                <a:cs typeface="Google Sans" panose="020B0604020202020204" charset="0"/>
              </a:rPr>
              <a:t>Automated PDF diagnostic report generation</a:t>
            </a:r>
          </a:p>
          <a:p>
            <a:pPr marL="285750" marR="0" lvl="0" indent="-28575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Google Sans" panose="020B0604020202020204" charset="0"/>
                <a:ea typeface="Google Sans" panose="020B0604020202020204" charset="0"/>
                <a:cs typeface="Google Sans" panose="020B0604020202020204" charset="0"/>
              </a:rPr>
              <a:t>Prediction history dashboard</a:t>
            </a:r>
          </a:p>
        </p:txBody>
      </p:sp>
    </p:spTree>
    <p:extLst>
      <p:ext uri="{BB962C8B-B14F-4D97-AF65-F5344CB8AC3E}">
        <p14:creationId xmlns:p14="http://schemas.microsoft.com/office/powerpoint/2010/main" val="1681885829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Google Shape;112;p27">
            <a:extLst>
              <a:ext uri="{FF2B5EF4-FFF2-40B4-BE49-F238E27FC236}">
                <a16:creationId xmlns:a16="http://schemas.microsoft.com/office/drawing/2014/main" id="{FB836B6D-A9E0-C4DA-F69F-AB352465CEC7}"/>
              </a:ext>
            </a:extLst>
          </p:cNvPr>
          <p:cNvSpPr txBox="1"/>
          <p:nvPr/>
        </p:nvSpPr>
        <p:spPr>
          <a:xfrm>
            <a:off x="1624500" y="1281280"/>
            <a:ext cx="8943000" cy="41882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lvl="0">
              <a:buSzPts val="1800"/>
            </a:pPr>
            <a:r>
              <a:rPr lang="en-IN" sz="2000" b="1" dirty="0">
                <a:latin typeface="Google Sans" panose="020B0604020202020204" charset="0"/>
                <a:ea typeface="Google Sans" panose="020B0604020202020204" charset="0"/>
                <a:cs typeface="Google Sans" panose="020B0604020202020204" charset="0"/>
              </a:rPr>
              <a:t>Google Technologies:</a:t>
            </a:r>
          </a:p>
        </p:txBody>
      </p:sp>
      <p:sp>
        <p:nvSpPr>
          <p:cNvPr id="5" name="Google Shape;112;p27">
            <a:extLst>
              <a:ext uri="{FF2B5EF4-FFF2-40B4-BE49-F238E27FC236}">
                <a16:creationId xmlns:a16="http://schemas.microsoft.com/office/drawing/2014/main" id="{D4B50E70-8B08-BE7E-5DF1-3A5BFA523FEF}"/>
              </a:ext>
            </a:extLst>
          </p:cNvPr>
          <p:cNvSpPr txBox="1"/>
          <p:nvPr/>
        </p:nvSpPr>
        <p:spPr>
          <a:xfrm>
            <a:off x="1683799" y="1872759"/>
            <a:ext cx="8943000" cy="41882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b="1" dirty="0">
                <a:latin typeface="Google Sans" panose="020B0604020202020204" charset="0"/>
                <a:ea typeface="Google Sans" panose="020B0604020202020204" charset="0"/>
                <a:cs typeface="Google Sans" panose="020B0604020202020204" charset="0"/>
              </a:rPr>
              <a:t>Google TensorFlow</a:t>
            </a:r>
            <a:endParaRPr lang="en-US" dirty="0">
              <a:latin typeface="Google Sans" panose="020B0604020202020204" charset="0"/>
              <a:ea typeface="Google Sans" panose="020B0604020202020204" charset="0"/>
              <a:cs typeface="Google Sans" panose="020B0604020202020204" charset="0"/>
            </a:endParaRPr>
          </a:p>
        </p:txBody>
      </p:sp>
      <p:sp>
        <p:nvSpPr>
          <p:cNvPr id="6" name="Google Shape;112;p27">
            <a:extLst>
              <a:ext uri="{FF2B5EF4-FFF2-40B4-BE49-F238E27FC236}">
                <a16:creationId xmlns:a16="http://schemas.microsoft.com/office/drawing/2014/main" id="{8F172891-AC5A-6733-0D94-7111F0A1113F}"/>
              </a:ext>
            </a:extLst>
          </p:cNvPr>
          <p:cNvSpPr txBox="1"/>
          <p:nvPr/>
        </p:nvSpPr>
        <p:spPr>
          <a:xfrm>
            <a:off x="1624500" y="3517301"/>
            <a:ext cx="8943000" cy="41882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lvl="0">
              <a:buSzPts val="1800"/>
            </a:pPr>
            <a:r>
              <a:rPr lang="en-IN" sz="2000" b="1" dirty="0">
                <a:latin typeface="Google Sans" panose="020B0604020202020204" charset="0"/>
                <a:ea typeface="Google Sans" panose="020B0604020202020204" charset="0"/>
                <a:cs typeface="Google Sans" panose="020B0604020202020204" charset="0"/>
              </a:rPr>
              <a:t>Supporting Technologies:</a:t>
            </a:r>
          </a:p>
        </p:txBody>
      </p:sp>
      <p:sp>
        <p:nvSpPr>
          <p:cNvPr id="7" name="Google Shape;112;p27">
            <a:extLst>
              <a:ext uri="{FF2B5EF4-FFF2-40B4-BE49-F238E27FC236}">
                <a16:creationId xmlns:a16="http://schemas.microsoft.com/office/drawing/2014/main" id="{2C16D1B1-E899-8A5A-F3A8-0C8C08609934}"/>
              </a:ext>
            </a:extLst>
          </p:cNvPr>
          <p:cNvSpPr txBox="1"/>
          <p:nvPr/>
        </p:nvSpPr>
        <p:spPr>
          <a:xfrm>
            <a:off x="2026743" y="2461464"/>
            <a:ext cx="8943000" cy="49779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>
                <a:latin typeface="Google Sans" panose="020B0604020202020204" charset="0"/>
                <a:ea typeface="Google Sans" panose="020B0604020202020204" charset="0"/>
                <a:cs typeface="Google Sans" panose="020B0604020202020204" charset="0"/>
              </a:rPr>
              <a:t>Used for building, training, and deploying the CNN model</a:t>
            </a:r>
          </a:p>
        </p:txBody>
      </p:sp>
      <p:sp>
        <p:nvSpPr>
          <p:cNvPr id="8" name="Rectangle 1">
            <a:extLst>
              <a:ext uri="{FF2B5EF4-FFF2-40B4-BE49-F238E27FC236}">
                <a16:creationId xmlns:a16="http://schemas.microsoft.com/office/drawing/2014/main" id="{48BC5D61-658F-32DD-F258-8E463435B51F}"/>
              </a:ext>
            </a:extLst>
          </p:cNvPr>
          <p:cNvSpPr>
            <a:spLocks noChangeArrowheads="1"/>
          </p:cNvSpPr>
          <p:nvPr/>
        </p:nvSpPr>
        <p:spPr bwMode="auto">
          <a:xfrm rot="10800000" flipV="1">
            <a:off x="1683799" y="4184970"/>
            <a:ext cx="5158946" cy="1754326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285750" marR="0" lvl="0" indent="-28575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Google Sans" panose="020B0604020202020204" charset="0"/>
                <a:ea typeface="Google Sans" panose="020B0604020202020204" charset="0"/>
                <a:cs typeface="Google Sans" panose="020B0604020202020204" charset="0"/>
              </a:rPr>
              <a:t>Python</a:t>
            </a:r>
          </a:p>
          <a:p>
            <a:pPr marL="285750" marR="0" lvl="0" indent="-28575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r>
              <a:rPr kumimoji="0" lang="en-US" altLang="en-US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Google Sans" panose="020B0604020202020204" charset="0"/>
                <a:ea typeface="Google Sans" panose="020B0604020202020204" charset="0"/>
                <a:cs typeface="Google Sans" panose="020B0604020202020204" charset="0"/>
              </a:rPr>
              <a:t>Streamlit</a:t>
            </a:r>
            <a:endParaRPr kumimoji="0" lang="en-US" altLang="en-US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Google Sans" panose="020B0604020202020204" charset="0"/>
              <a:ea typeface="Google Sans" panose="020B0604020202020204" charset="0"/>
              <a:cs typeface="Google Sans" panose="020B0604020202020204" charset="0"/>
            </a:endParaRPr>
          </a:p>
          <a:p>
            <a:pPr marL="285750" marR="0" lvl="0" indent="-28575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Google Sans" panose="020B0604020202020204" charset="0"/>
                <a:ea typeface="Google Sans" panose="020B0604020202020204" charset="0"/>
                <a:cs typeface="Google Sans" panose="020B0604020202020204" charset="0"/>
              </a:rPr>
              <a:t>OpenCV</a:t>
            </a:r>
          </a:p>
          <a:p>
            <a:pPr marL="285750" marR="0" lvl="0" indent="-28575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Google Sans" panose="020B0604020202020204" charset="0"/>
                <a:ea typeface="Google Sans" panose="020B0604020202020204" charset="0"/>
                <a:cs typeface="Google Sans" panose="020B0604020202020204" charset="0"/>
              </a:rPr>
              <a:t>NumPy, Pandas</a:t>
            </a:r>
          </a:p>
          <a:p>
            <a:pPr marL="285750" marR="0" lvl="0" indent="-28575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Google Sans" panose="020B0604020202020204" charset="0"/>
                <a:ea typeface="Google Sans" panose="020B0604020202020204" charset="0"/>
                <a:cs typeface="Google Sans" panose="020B0604020202020204" charset="0"/>
              </a:rPr>
              <a:t>Matplotlib</a:t>
            </a:r>
          </a:p>
          <a:p>
            <a:pPr marL="285750" marR="0" lvl="0" indent="-28575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Google Sans" panose="020B0604020202020204" charset="0"/>
                <a:ea typeface="Google Sans" panose="020B0604020202020204" charset="0"/>
                <a:cs typeface="Google Sans" panose="020B0604020202020204" charset="0"/>
              </a:rPr>
              <a:t>FPDF</a:t>
            </a:r>
          </a:p>
        </p:txBody>
      </p:sp>
    </p:spTree>
    <p:extLst>
      <p:ext uri="{BB962C8B-B14F-4D97-AF65-F5344CB8AC3E}">
        <p14:creationId xmlns:p14="http://schemas.microsoft.com/office/powerpoint/2010/main" val="3896266335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Google Shape;112;p27">
            <a:extLst>
              <a:ext uri="{FF2B5EF4-FFF2-40B4-BE49-F238E27FC236}">
                <a16:creationId xmlns:a16="http://schemas.microsoft.com/office/drawing/2014/main" id="{360526B1-7484-3B0C-6AB4-E0E3B7E01518}"/>
              </a:ext>
            </a:extLst>
          </p:cNvPr>
          <p:cNvSpPr txBox="1"/>
          <p:nvPr/>
        </p:nvSpPr>
        <p:spPr>
          <a:xfrm>
            <a:off x="1829317" y="1271487"/>
            <a:ext cx="8943000" cy="41882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lvl="0">
              <a:buSzPts val="1800"/>
            </a:pPr>
            <a:r>
              <a:rPr lang="en-IN" sz="2000" b="1" dirty="0">
                <a:latin typeface="Google Sans" panose="020B0604020202020204" charset="0"/>
                <a:ea typeface="Google Sans" panose="020B0604020202020204" charset="0"/>
                <a:cs typeface="Google Sans" panose="020B0604020202020204" charset="0"/>
              </a:rPr>
              <a:t>Process Flow:</a:t>
            </a:r>
          </a:p>
        </p:txBody>
      </p:sp>
      <p:pic>
        <p:nvPicPr>
          <p:cNvPr id="5" name="Picture 10">
            <a:extLst>
              <a:ext uri="{FF2B5EF4-FFF2-40B4-BE49-F238E27FC236}">
                <a16:creationId xmlns:a16="http://schemas.microsoft.com/office/drawing/2014/main" id="{CB7C06DD-2B8A-1C55-B80D-05964CBB3F4E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1018" b="6228"/>
          <a:stretch>
            <a:fillRect/>
          </a:stretch>
        </p:blipFill>
        <p:spPr bwMode="auto">
          <a:xfrm>
            <a:off x="4230698" y="291625"/>
            <a:ext cx="6622833" cy="627475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417551093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Google Shape;112;p27">
            <a:extLst>
              <a:ext uri="{FF2B5EF4-FFF2-40B4-BE49-F238E27FC236}">
                <a16:creationId xmlns:a16="http://schemas.microsoft.com/office/drawing/2014/main" id="{BF51863C-548A-BB14-5A5A-357E31A95D98}"/>
              </a:ext>
            </a:extLst>
          </p:cNvPr>
          <p:cNvSpPr txBox="1"/>
          <p:nvPr/>
        </p:nvSpPr>
        <p:spPr>
          <a:xfrm>
            <a:off x="1521867" y="1285850"/>
            <a:ext cx="8943000" cy="41882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lvl="0">
              <a:buSzPts val="1800"/>
            </a:pPr>
            <a:r>
              <a:rPr lang="en-IN" sz="2000" b="1" dirty="0">
                <a:latin typeface="Google Sans" panose="020B0604020202020204" charset="0"/>
                <a:ea typeface="Google Sans" panose="020B0604020202020204" charset="0"/>
                <a:cs typeface="Google Sans" panose="020B0604020202020204" charset="0"/>
              </a:rPr>
              <a:t>System Architecture:</a:t>
            </a:r>
          </a:p>
        </p:txBody>
      </p:sp>
      <p:pic>
        <p:nvPicPr>
          <p:cNvPr id="5" name="Picture 2">
            <a:extLst>
              <a:ext uri="{FF2B5EF4-FFF2-40B4-BE49-F238E27FC236}">
                <a16:creationId xmlns:a16="http://schemas.microsoft.com/office/drawing/2014/main" id="{AB1746AF-ED60-C741-1DE3-F67A9FC467FF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9752" b="7719"/>
          <a:stretch>
            <a:fillRect/>
          </a:stretch>
        </p:blipFill>
        <p:spPr bwMode="auto">
          <a:xfrm>
            <a:off x="4387762" y="316082"/>
            <a:ext cx="7014408" cy="62835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771825711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Google Shape;112;p27">
            <a:extLst>
              <a:ext uri="{FF2B5EF4-FFF2-40B4-BE49-F238E27FC236}">
                <a16:creationId xmlns:a16="http://schemas.microsoft.com/office/drawing/2014/main" id="{717327FD-3DD4-5407-DC8E-E08BA47A60A6}"/>
              </a:ext>
            </a:extLst>
          </p:cNvPr>
          <p:cNvSpPr txBox="1"/>
          <p:nvPr/>
        </p:nvSpPr>
        <p:spPr>
          <a:xfrm>
            <a:off x="1440419" y="1066311"/>
            <a:ext cx="5604437" cy="82811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lvl="0">
              <a:buSzPts val="1800"/>
            </a:pPr>
            <a:r>
              <a:rPr lang="en-IN" sz="2000" b="1" dirty="0">
                <a:latin typeface="Google Sans" panose="020B0604020202020204" charset="0"/>
                <a:ea typeface="Google Sans" panose="020B0604020202020204" charset="0"/>
                <a:cs typeface="Google Sans" panose="020B0604020202020204" charset="0"/>
              </a:rPr>
              <a:t>Minimum Viable Product (MVP):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CA63BB76-45EE-857C-58CA-449F91D86E1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223532" y="1809633"/>
            <a:ext cx="3799479" cy="2136340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A94B246B-5F4E-FF85-156A-56E5161FC09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119264" y="1809634"/>
            <a:ext cx="3799476" cy="2136339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16B0B2D9-6731-7B3C-F244-9F064DAA02CA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440419" y="4050677"/>
            <a:ext cx="3108834" cy="1741012"/>
          </a:xfrm>
          <a:prstGeom prst="rect">
            <a:avLst/>
          </a:prstGeom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612E3219-A08A-B803-102D-B85FD0BC8D37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629265" y="4050677"/>
            <a:ext cx="3096385" cy="1741011"/>
          </a:xfrm>
          <a:prstGeom prst="rect">
            <a:avLst/>
          </a:prstGeom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2F88FBDC-1210-4160-4394-03D3E398282E}"/>
              </a:ext>
            </a:extLst>
          </p:cNvPr>
          <p:cNvPicPr>
            <a:picLocks noChangeAspect="1"/>
          </p:cNvPicPr>
          <p:nvPr/>
        </p:nvPicPr>
        <p:blipFill>
          <a:blip r:embed="rId6"/>
          <a:srcRect l="5962" r="9559"/>
          <a:stretch>
            <a:fillRect/>
          </a:stretch>
        </p:blipFill>
        <p:spPr>
          <a:xfrm>
            <a:off x="7805662" y="4050678"/>
            <a:ext cx="2614451" cy="174101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94295288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Google Shape;112;p27">
            <a:extLst>
              <a:ext uri="{FF2B5EF4-FFF2-40B4-BE49-F238E27FC236}">
                <a16:creationId xmlns:a16="http://schemas.microsoft.com/office/drawing/2014/main" id="{B60F76E6-0EC0-8025-2FDD-1C8A0DDAD4CA}"/>
              </a:ext>
            </a:extLst>
          </p:cNvPr>
          <p:cNvSpPr txBox="1"/>
          <p:nvPr/>
        </p:nvSpPr>
        <p:spPr>
          <a:xfrm>
            <a:off x="1471765" y="1116998"/>
            <a:ext cx="8943000" cy="41882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lvl="0">
              <a:buSzPts val="1800"/>
            </a:pPr>
            <a:r>
              <a:rPr lang="en-IN" sz="2000" b="1" dirty="0">
                <a:latin typeface="Google Sans" panose="020B0604020202020204" charset="0"/>
                <a:ea typeface="Google Sans" panose="020B0604020202020204" charset="0"/>
                <a:cs typeface="Google Sans" panose="020B0604020202020204" charset="0"/>
              </a:rPr>
              <a:t>Future Enhancements:</a:t>
            </a:r>
          </a:p>
        </p:txBody>
      </p:sp>
      <p:sp>
        <p:nvSpPr>
          <p:cNvPr id="5" name="Google Shape;112;p27">
            <a:extLst>
              <a:ext uri="{FF2B5EF4-FFF2-40B4-BE49-F238E27FC236}">
                <a16:creationId xmlns:a16="http://schemas.microsoft.com/office/drawing/2014/main" id="{E14B09CA-C3B6-16A7-0D20-FC802CCCEF0E}"/>
              </a:ext>
            </a:extLst>
          </p:cNvPr>
          <p:cNvSpPr txBox="1"/>
          <p:nvPr/>
        </p:nvSpPr>
        <p:spPr>
          <a:xfrm>
            <a:off x="1471765" y="3503291"/>
            <a:ext cx="8943000" cy="41882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lvl="0">
              <a:buSzPts val="1800"/>
            </a:pPr>
            <a:r>
              <a:rPr lang="en-IN" sz="2000" b="1" dirty="0">
                <a:latin typeface="Google Sans" panose="020B0604020202020204" charset="0"/>
                <a:ea typeface="Google Sans" panose="020B0604020202020204" charset="0"/>
                <a:cs typeface="Google Sans" panose="020B0604020202020204" charset="0"/>
              </a:rPr>
              <a:t>Project Links:</a:t>
            </a:r>
          </a:p>
        </p:txBody>
      </p:sp>
      <p:sp>
        <p:nvSpPr>
          <p:cNvPr id="6" name="Rectangle 1">
            <a:extLst>
              <a:ext uri="{FF2B5EF4-FFF2-40B4-BE49-F238E27FC236}">
                <a16:creationId xmlns:a16="http://schemas.microsoft.com/office/drawing/2014/main" id="{5CF34BFC-0FB6-E8C7-D157-92E49EA3D6CA}"/>
              </a:ext>
            </a:extLst>
          </p:cNvPr>
          <p:cNvSpPr>
            <a:spLocks noChangeArrowheads="1"/>
          </p:cNvSpPr>
          <p:nvPr/>
        </p:nvSpPr>
        <p:spPr bwMode="auto">
          <a:xfrm rot="10800000" flipV="1">
            <a:off x="1471765" y="1667968"/>
            <a:ext cx="6462726" cy="147732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285750" marR="0" lvl="0" indent="-28575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Google Sans" panose="020B0604020202020204" charset="0"/>
                <a:ea typeface="Google Sans" panose="020B0604020202020204" charset="0"/>
                <a:cs typeface="Google Sans" panose="020B0604020202020204" charset="0"/>
              </a:rPr>
              <a:t>Multi-class tumor detection (glioma, meningioma, pituitary)</a:t>
            </a:r>
          </a:p>
          <a:p>
            <a:pPr marL="285750" marR="0" lvl="0" indent="-28575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Google Sans" panose="020B0604020202020204" charset="0"/>
                <a:ea typeface="Google Sans" panose="020B0604020202020204" charset="0"/>
                <a:cs typeface="Google Sans" panose="020B0604020202020204" charset="0"/>
              </a:rPr>
              <a:t>DICOM image support</a:t>
            </a:r>
          </a:p>
          <a:p>
            <a:pPr marL="285750" marR="0" lvl="0" indent="-28575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Google Sans" panose="020B0604020202020204" charset="0"/>
                <a:ea typeface="Google Sans" panose="020B0604020202020204" charset="0"/>
                <a:cs typeface="Google Sans" panose="020B0604020202020204" charset="0"/>
              </a:rPr>
              <a:t>Grad-CAM heatmap explainability</a:t>
            </a:r>
          </a:p>
          <a:p>
            <a:pPr marL="285750" marR="0" lvl="0" indent="-28575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Google Sans" panose="020B0604020202020204" charset="0"/>
                <a:ea typeface="Google Sans" panose="020B0604020202020204" charset="0"/>
                <a:cs typeface="Google Sans" panose="020B0604020202020204" charset="0"/>
              </a:rPr>
              <a:t>Cloud deployment (Vertex AI / </a:t>
            </a:r>
            <a:r>
              <a:rPr kumimoji="0" lang="en-US" altLang="en-US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Google Sans" panose="020B0604020202020204" charset="0"/>
                <a:ea typeface="Google Sans" panose="020B0604020202020204" charset="0"/>
                <a:cs typeface="Google Sans" panose="020B0604020202020204" charset="0"/>
              </a:rPr>
              <a:t>Streamlit</a:t>
            </a: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Google Sans" panose="020B0604020202020204" charset="0"/>
                <a:ea typeface="Google Sans" panose="020B0604020202020204" charset="0"/>
                <a:cs typeface="Google Sans" panose="020B0604020202020204" charset="0"/>
              </a:rPr>
              <a:t> Cloud)</a:t>
            </a:r>
          </a:p>
          <a:p>
            <a:pPr marL="285750" marR="0" lvl="0" indent="-28575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Google Sans" panose="020B0604020202020204" charset="0"/>
                <a:ea typeface="Google Sans" panose="020B0604020202020204" charset="0"/>
                <a:cs typeface="Google Sans" panose="020B0604020202020204" charset="0"/>
              </a:rPr>
              <a:t>Patient data &amp; database integration</a:t>
            </a:r>
          </a:p>
        </p:txBody>
      </p:sp>
      <p:sp>
        <p:nvSpPr>
          <p:cNvPr id="7" name="Rectangle 2">
            <a:extLst>
              <a:ext uri="{FF2B5EF4-FFF2-40B4-BE49-F238E27FC236}">
                <a16:creationId xmlns:a16="http://schemas.microsoft.com/office/drawing/2014/main" id="{D7440173-6E47-D676-5EBE-1DE53FB68322}"/>
              </a:ext>
            </a:extLst>
          </p:cNvPr>
          <p:cNvSpPr>
            <a:spLocks noChangeArrowheads="1"/>
          </p:cNvSpPr>
          <p:nvPr/>
        </p:nvSpPr>
        <p:spPr bwMode="auto">
          <a:xfrm rot="10800000" flipV="1">
            <a:off x="1471765" y="4096153"/>
            <a:ext cx="8984200" cy="258532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285750" lvl="0" indent="-285750" eaLnBrk="0" fontAlgn="base" hangingPunct="0">
              <a:spcBef>
                <a:spcPct val="0"/>
              </a:spcBef>
              <a:spcAft>
                <a:spcPct val="0"/>
              </a:spcAft>
              <a:buClrTx/>
              <a:buFont typeface="Arial" panose="020B0604020202020204" pitchFamily="34" charset="0"/>
              <a:buChar char="•"/>
            </a:pPr>
            <a:r>
              <a:rPr kumimoji="0" lang="en-US" altLang="en-US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Google Sans" panose="020B0604020202020204" charset="0"/>
                <a:ea typeface="Google Sans" panose="020B0604020202020204" charset="0"/>
                <a:cs typeface="Google Sans" panose="020B0604020202020204" charset="0"/>
              </a:rPr>
              <a:t>GitHub Repository:</a:t>
            </a:r>
            <a:b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Google Sans" panose="020B0604020202020204" charset="0"/>
                <a:ea typeface="Google Sans" panose="020B0604020202020204" charset="0"/>
                <a:cs typeface="Google Sans" panose="020B0604020202020204" charset="0"/>
              </a:rPr>
            </a:br>
            <a:r>
              <a:rPr lang="en-US" altLang="en-US" dirty="0">
                <a:solidFill>
                  <a:schemeClr val="tx1"/>
                </a:solidFill>
                <a:latin typeface="Google Sans" panose="020B0604020202020204" charset="0"/>
                <a:ea typeface="Google Sans" panose="020B0604020202020204" charset="0"/>
                <a:cs typeface="Google Sans" panose="020B0604020202020204" charset="0"/>
                <a:hlinkClick r:id="rId2"/>
              </a:rPr>
              <a:t>https://github.com/aryansengar007/brain-tumor-classifier</a:t>
            </a:r>
            <a:endParaRPr lang="en-US" altLang="en-US" dirty="0">
              <a:solidFill>
                <a:schemeClr val="tx1"/>
              </a:solidFill>
              <a:latin typeface="Google Sans" panose="020B0604020202020204" charset="0"/>
              <a:ea typeface="Google Sans" panose="020B0604020202020204" charset="0"/>
              <a:cs typeface="Google Sans" panose="020B0604020202020204" charset="0"/>
            </a:endParaRPr>
          </a:p>
          <a:p>
            <a:pPr lvl="0" eaLnBrk="0" fontAlgn="base" hangingPunct="0">
              <a:spcBef>
                <a:spcPct val="0"/>
              </a:spcBef>
              <a:spcAft>
                <a:spcPct val="0"/>
              </a:spcAft>
              <a:buClrTx/>
            </a:pPr>
            <a:endParaRPr kumimoji="0" lang="en-US" altLang="en-US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Google Sans" panose="020B0604020202020204" charset="0"/>
              <a:ea typeface="Google Sans" panose="020B0604020202020204" charset="0"/>
              <a:cs typeface="Google Sans" panose="020B0604020202020204" charset="0"/>
            </a:endParaRPr>
          </a:p>
          <a:p>
            <a:pPr marL="285750" lvl="0" indent="-285750" eaLnBrk="0" fontAlgn="base" hangingPunct="0">
              <a:spcBef>
                <a:spcPct val="0"/>
              </a:spcBef>
              <a:spcAft>
                <a:spcPct val="0"/>
              </a:spcAft>
              <a:buClrTx/>
              <a:buFont typeface="Arial" panose="020B0604020202020204" pitchFamily="34" charset="0"/>
              <a:buChar char="•"/>
            </a:pPr>
            <a:r>
              <a:rPr kumimoji="0" lang="en-US" altLang="en-US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Google Sans" panose="020B0604020202020204" charset="0"/>
                <a:ea typeface="Google Sans" panose="020B0604020202020204" charset="0"/>
                <a:cs typeface="Google Sans" panose="020B0604020202020204" charset="0"/>
              </a:rPr>
              <a:t>Demo Video:</a:t>
            </a:r>
            <a:br>
              <a:rPr lang="en-US" altLang="en-US" dirty="0">
                <a:solidFill>
                  <a:schemeClr val="tx1"/>
                </a:solidFill>
                <a:latin typeface="Google Sans" panose="020B0604020202020204" charset="0"/>
                <a:ea typeface="Google Sans" panose="020B0604020202020204" charset="0"/>
                <a:cs typeface="Google Sans" panose="020B0604020202020204" charset="0"/>
              </a:rPr>
            </a:br>
            <a:r>
              <a:rPr lang="en-US" altLang="en-US" dirty="0">
                <a:solidFill>
                  <a:schemeClr val="tx1"/>
                </a:solidFill>
                <a:latin typeface="Google Sans" panose="020B0604020202020204" charset="0"/>
                <a:ea typeface="Google Sans" panose="020B0604020202020204" charset="0"/>
                <a:cs typeface="Google Sans" panose="020B0604020202020204" charset="0"/>
                <a:hlinkClick r:id="rId3"/>
              </a:rPr>
              <a:t>https://drive.google.com/file/d/1bTZAPYUFGMByg1zFmahwQTzttGkAHAyT/view?usp=sharing</a:t>
            </a:r>
            <a:endParaRPr lang="en-US" altLang="en-US" dirty="0">
              <a:solidFill>
                <a:schemeClr val="tx1"/>
              </a:solidFill>
              <a:latin typeface="Google Sans" panose="020B0604020202020204" charset="0"/>
              <a:ea typeface="Google Sans" panose="020B0604020202020204" charset="0"/>
              <a:cs typeface="Google Sans" panose="020B0604020202020204" charset="0"/>
            </a:endParaRPr>
          </a:p>
          <a:p>
            <a:pPr lvl="0" eaLnBrk="0" fontAlgn="base" hangingPunct="0">
              <a:spcBef>
                <a:spcPct val="0"/>
              </a:spcBef>
              <a:spcAft>
                <a:spcPct val="0"/>
              </a:spcAft>
              <a:buClrTx/>
            </a:pPr>
            <a:endParaRPr kumimoji="0" lang="en-US" altLang="en-US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Google Sans" panose="020B0604020202020204" charset="0"/>
              <a:ea typeface="Google Sans" panose="020B0604020202020204" charset="0"/>
              <a:cs typeface="Google Sans" panose="020B0604020202020204" charset="0"/>
            </a:endParaRPr>
          </a:p>
          <a:p>
            <a:pPr marL="285750" marR="0" lvl="0" indent="-28575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r>
              <a:rPr kumimoji="0" lang="en-US" altLang="en-US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Google Sans" panose="020B0604020202020204" charset="0"/>
                <a:ea typeface="Google Sans" panose="020B0604020202020204" charset="0"/>
                <a:cs typeface="Google Sans" panose="020B0604020202020204" charset="0"/>
              </a:rPr>
              <a:t>MVP Link:</a:t>
            </a:r>
            <a:b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Google Sans" panose="020B0604020202020204" charset="0"/>
                <a:ea typeface="Google Sans" panose="020B0604020202020204" charset="0"/>
                <a:cs typeface="Google Sans" panose="020B0604020202020204" charset="0"/>
              </a:rPr>
            </a:b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Google Sans" panose="020B0604020202020204" charset="0"/>
                <a:ea typeface="Google Sans" panose="020B0604020202020204" charset="0"/>
                <a:cs typeface="Google Sans" panose="020B0604020202020204" charset="0"/>
              </a:rPr>
              <a:t>Local </a:t>
            </a:r>
            <a:r>
              <a:rPr kumimoji="0" lang="en-US" altLang="en-US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Google Sans" panose="020B0604020202020204" charset="0"/>
                <a:ea typeface="Google Sans" panose="020B0604020202020204" charset="0"/>
                <a:cs typeface="Google Sans" panose="020B0604020202020204" charset="0"/>
              </a:rPr>
              <a:t>Streamlit</a:t>
            </a: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Google Sans" panose="020B0604020202020204" charset="0"/>
                <a:ea typeface="Google Sans" panose="020B0604020202020204" charset="0"/>
                <a:cs typeface="Google Sans" panose="020B0604020202020204" charset="0"/>
              </a:rPr>
              <a:t> Application</a:t>
            </a:r>
          </a:p>
        </p:txBody>
      </p:sp>
    </p:spTree>
    <p:extLst>
      <p:ext uri="{BB962C8B-B14F-4D97-AF65-F5344CB8AC3E}">
        <p14:creationId xmlns:p14="http://schemas.microsoft.com/office/powerpoint/2010/main" val="4077042451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1">
            <a:extLst>
              <a:ext uri="{FF2B5EF4-FFF2-40B4-BE49-F238E27FC236}">
                <a16:creationId xmlns:a16="http://schemas.microsoft.com/office/drawing/2014/main" id="{6B945339-3453-44B2-1A04-033A76A60B2D}"/>
              </a:ext>
            </a:extLst>
          </p:cNvPr>
          <p:cNvSpPr>
            <a:spLocks noGrp="1"/>
          </p:cNvSpPr>
          <p:nvPr/>
        </p:nvSpPr>
        <p:spPr>
          <a:xfrm>
            <a:off x="1311964" y="963642"/>
            <a:ext cx="10344647" cy="468331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200"/>
              <a:buFont typeface="Proxima Nova"/>
              <a:buNone/>
              <a:defRPr sz="2200" b="0" i="0" u="none" strike="noStrike" cap="none">
                <a:solidFill>
                  <a:schemeClr val="dk1"/>
                </a:solidFill>
                <a:latin typeface="Proxima Nova"/>
                <a:ea typeface="Proxima Nova"/>
                <a:cs typeface="Proxima Nova"/>
                <a:sym typeface="Proxima Nova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Proxima Nova"/>
              <a:buNone/>
              <a:defRPr sz="2800" b="0" i="0" u="none" strike="noStrike" cap="none">
                <a:solidFill>
                  <a:schemeClr val="dk1"/>
                </a:solidFill>
                <a:latin typeface="Proxima Nova"/>
                <a:ea typeface="Proxima Nova"/>
                <a:cs typeface="Proxima Nova"/>
                <a:sym typeface="Proxima Nova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Proxima Nova"/>
              <a:buNone/>
              <a:defRPr sz="2800" b="0" i="0" u="none" strike="noStrike" cap="none">
                <a:solidFill>
                  <a:schemeClr val="dk1"/>
                </a:solidFill>
                <a:latin typeface="Proxima Nova"/>
                <a:ea typeface="Proxima Nova"/>
                <a:cs typeface="Proxima Nova"/>
                <a:sym typeface="Proxima Nova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Proxima Nova"/>
              <a:buNone/>
              <a:defRPr sz="2800" b="0" i="0" u="none" strike="noStrike" cap="none">
                <a:solidFill>
                  <a:schemeClr val="dk1"/>
                </a:solidFill>
                <a:latin typeface="Proxima Nova"/>
                <a:ea typeface="Proxima Nova"/>
                <a:cs typeface="Proxima Nova"/>
                <a:sym typeface="Proxima Nova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Proxima Nova"/>
              <a:buNone/>
              <a:defRPr sz="2800" b="0" i="0" u="none" strike="noStrike" cap="none">
                <a:solidFill>
                  <a:schemeClr val="dk1"/>
                </a:solidFill>
                <a:latin typeface="Proxima Nova"/>
                <a:ea typeface="Proxima Nova"/>
                <a:cs typeface="Proxima Nova"/>
                <a:sym typeface="Proxima Nova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Proxima Nova"/>
              <a:buNone/>
              <a:defRPr sz="2800" b="0" i="0" u="none" strike="noStrike" cap="none">
                <a:solidFill>
                  <a:schemeClr val="dk1"/>
                </a:solidFill>
                <a:latin typeface="Proxima Nova"/>
                <a:ea typeface="Proxima Nova"/>
                <a:cs typeface="Proxima Nova"/>
                <a:sym typeface="Proxima Nova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Proxima Nova"/>
              <a:buNone/>
              <a:defRPr sz="2800" b="0" i="0" u="none" strike="noStrike" cap="none">
                <a:solidFill>
                  <a:schemeClr val="dk1"/>
                </a:solidFill>
                <a:latin typeface="Proxima Nova"/>
                <a:ea typeface="Proxima Nova"/>
                <a:cs typeface="Proxima Nova"/>
                <a:sym typeface="Proxima Nova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Proxima Nova"/>
              <a:buNone/>
              <a:defRPr sz="2800" b="0" i="0" u="none" strike="noStrike" cap="none">
                <a:solidFill>
                  <a:schemeClr val="dk1"/>
                </a:solidFill>
                <a:latin typeface="Proxima Nova"/>
                <a:ea typeface="Proxima Nova"/>
                <a:cs typeface="Proxima Nova"/>
                <a:sym typeface="Proxima Nova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Proxima Nova"/>
              <a:buNone/>
              <a:defRPr sz="2800" b="0" i="0" u="none" strike="noStrike" cap="none">
                <a:solidFill>
                  <a:schemeClr val="dk1"/>
                </a:solidFill>
                <a:latin typeface="Proxima Nova"/>
                <a:ea typeface="Proxima Nova"/>
                <a:cs typeface="Proxima Nova"/>
                <a:sym typeface="Proxima Nova"/>
              </a:defRPr>
            </a:lvl9pPr>
          </a:lstStyle>
          <a:p>
            <a:r>
              <a:rPr lang="en-US" sz="13800" b="1" u="sng" dirty="0">
                <a:solidFill>
                  <a:schemeClr val="tx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Thank You</a:t>
            </a:r>
            <a:endParaRPr lang="en-IN" sz="13800" b="1" u="sng" dirty="0">
              <a:solidFill>
                <a:schemeClr val="tx1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  <p:sp>
        <p:nvSpPr>
          <p:cNvPr id="5" name="Slide Number Placeholder 3">
            <a:extLst>
              <a:ext uri="{FF2B5EF4-FFF2-40B4-BE49-F238E27FC236}">
                <a16:creationId xmlns:a16="http://schemas.microsoft.com/office/drawing/2014/main" id="{8080EF2E-FFF5-AECF-6DF8-2E9F1C0523AC}"/>
              </a:ext>
            </a:extLst>
          </p:cNvPr>
          <p:cNvSpPr>
            <a:spLocks noGrp="1"/>
          </p:cNvSpPr>
          <p:nvPr/>
        </p:nvSpPr>
        <p:spPr>
          <a:xfrm>
            <a:off x="8598330" y="4818033"/>
            <a:ext cx="311411" cy="19282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 fontScale="25000" lnSpcReduction="20000"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  <a:defRPr sz="1000" b="0" i="0" u="none" strike="noStrike" cap="none">
                <a:solidFill>
                  <a:schemeClr val="accent4"/>
                </a:solidFill>
                <a:latin typeface="Proxima Nova"/>
                <a:ea typeface="Proxima Nova"/>
                <a:cs typeface="Proxima Nova"/>
                <a:sym typeface="Proxima Nova"/>
              </a:defRPr>
            </a:lvl1pPr>
            <a:lvl2pPr marR="0" lvl="1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  <a:defRPr sz="1000" b="0" i="0" u="none" strike="noStrike" cap="none">
                <a:solidFill>
                  <a:schemeClr val="accent4"/>
                </a:solidFill>
                <a:latin typeface="Proxima Nova"/>
                <a:ea typeface="Proxima Nova"/>
                <a:cs typeface="Proxima Nova"/>
                <a:sym typeface="Proxima Nova"/>
              </a:defRPr>
            </a:lvl2pPr>
            <a:lvl3pPr marR="0" lvl="2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  <a:defRPr sz="1000" b="0" i="0" u="none" strike="noStrike" cap="none">
                <a:solidFill>
                  <a:schemeClr val="accent4"/>
                </a:solidFill>
                <a:latin typeface="Proxima Nova"/>
                <a:ea typeface="Proxima Nova"/>
                <a:cs typeface="Proxima Nova"/>
                <a:sym typeface="Proxima Nova"/>
              </a:defRPr>
            </a:lvl3pPr>
            <a:lvl4pPr marR="0" lvl="3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  <a:defRPr sz="1000" b="0" i="0" u="none" strike="noStrike" cap="none">
                <a:solidFill>
                  <a:schemeClr val="accent4"/>
                </a:solidFill>
                <a:latin typeface="Proxima Nova"/>
                <a:ea typeface="Proxima Nova"/>
                <a:cs typeface="Proxima Nova"/>
                <a:sym typeface="Proxima Nova"/>
              </a:defRPr>
            </a:lvl4pPr>
            <a:lvl5pPr marR="0" lvl="4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  <a:defRPr sz="1000" b="0" i="0" u="none" strike="noStrike" cap="none">
                <a:solidFill>
                  <a:schemeClr val="accent4"/>
                </a:solidFill>
                <a:latin typeface="Proxima Nova"/>
                <a:ea typeface="Proxima Nova"/>
                <a:cs typeface="Proxima Nova"/>
                <a:sym typeface="Proxima Nova"/>
              </a:defRPr>
            </a:lvl5pPr>
            <a:lvl6pPr marR="0" lvl="5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  <a:defRPr sz="1000" b="0" i="0" u="none" strike="noStrike" cap="none">
                <a:solidFill>
                  <a:schemeClr val="accent4"/>
                </a:solidFill>
                <a:latin typeface="Proxima Nova"/>
                <a:ea typeface="Proxima Nova"/>
                <a:cs typeface="Proxima Nova"/>
                <a:sym typeface="Proxima Nova"/>
              </a:defRPr>
            </a:lvl6pPr>
            <a:lvl7pPr marR="0" lvl="6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  <a:defRPr sz="1000" b="0" i="0" u="none" strike="noStrike" cap="none">
                <a:solidFill>
                  <a:schemeClr val="accent4"/>
                </a:solidFill>
                <a:latin typeface="Proxima Nova"/>
                <a:ea typeface="Proxima Nova"/>
                <a:cs typeface="Proxima Nova"/>
                <a:sym typeface="Proxima Nova"/>
              </a:defRPr>
            </a:lvl7pPr>
            <a:lvl8pPr marR="0" lvl="7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  <a:defRPr sz="1000" b="0" i="0" u="none" strike="noStrike" cap="none">
                <a:solidFill>
                  <a:schemeClr val="accent4"/>
                </a:solidFill>
                <a:latin typeface="Proxima Nova"/>
                <a:ea typeface="Proxima Nova"/>
                <a:cs typeface="Proxima Nova"/>
                <a:sym typeface="Proxima Nova"/>
              </a:defRPr>
            </a:lvl8pPr>
            <a:lvl9pPr marR="0" lvl="8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  <a:defRPr sz="1000" b="0" i="0" u="none" strike="noStrike" cap="none">
                <a:solidFill>
                  <a:schemeClr val="accent4"/>
                </a:solidFill>
                <a:latin typeface="Proxima Nova"/>
                <a:ea typeface="Proxima Nova"/>
                <a:cs typeface="Proxima Nova"/>
                <a:sym typeface="Proxima Nova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 smtClean="0"/>
              <a:pPr marL="0" lvl="0" indent="0" algn="r" rtl="0">
                <a:spcBef>
                  <a:spcPts val="0"/>
                </a:spcBef>
                <a:spcAft>
                  <a:spcPts val="0"/>
                </a:spcAft>
                <a:buNone/>
              </a:pPr>
              <a:t>22</a:t>
            </a:fld>
            <a:endParaRPr lang="en"/>
          </a:p>
        </p:txBody>
      </p:sp>
    </p:spTree>
    <p:extLst>
      <p:ext uri="{BB962C8B-B14F-4D97-AF65-F5344CB8AC3E}">
        <p14:creationId xmlns:p14="http://schemas.microsoft.com/office/powerpoint/2010/main" val="2368134026"/>
      </p:ext>
    </p:extLst>
  </p:cSld>
  <p:clrMapOvr>
    <a:masterClrMapping/>
  </p:clrMapOvr>
</p:sld>
</file>

<file path=ppt/theme/_rels/them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Madison">
  <a:themeElements>
    <a:clrScheme name="Madison">
      <a:dk1>
        <a:sysClr val="windowText" lastClr="000000"/>
      </a:dk1>
      <a:lt1>
        <a:sysClr val="window" lastClr="FFFFFF"/>
      </a:lt1>
      <a:dk2>
        <a:srgbClr val="1F282E"/>
      </a:dk2>
      <a:lt2>
        <a:srgbClr val="C2F5FC"/>
      </a:lt2>
      <a:accent1>
        <a:srgbClr val="4091F3"/>
      </a:accent1>
      <a:accent2>
        <a:srgbClr val="8BBCF1"/>
      </a:accent2>
      <a:accent3>
        <a:srgbClr val="CB6A6A"/>
      </a:accent3>
      <a:accent4>
        <a:srgbClr val="C567AF"/>
      </a:accent4>
      <a:accent5>
        <a:srgbClr val="A684F9"/>
      </a:accent5>
      <a:accent6>
        <a:srgbClr val="A9ACEE"/>
      </a:accent6>
      <a:hlink>
        <a:srgbClr val="6D9CC5"/>
      </a:hlink>
      <a:folHlink>
        <a:srgbClr val="6D82A0"/>
      </a:folHlink>
    </a:clrScheme>
    <a:fontScheme name="Madison">
      <a:majorFont>
        <a:latin typeface="Arial" panose="020B060402020202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 panose="020B060402020202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Madison">
      <a:fillStyleLst>
        <a:solidFill>
          <a:schemeClr val="phClr"/>
        </a:solidFill>
        <a:gradFill rotWithShape="1">
          <a:gsLst>
            <a:gs pos="0">
              <a:schemeClr val="phClr">
                <a:tint val="48000"/>
                <a:alpha val="88000"/>
                <a:satMod val="105000"/>
                <a:lumMod val="110000"/>
              </a:schemeClr>
            </a:gs>
            <a:gs pos="100000">
              <a:schemeClr val="phClr">
                <a:tint val="78000"/>
                <a:alpha val="92000"/>
                <a:satMod val="109000"/>
                <a:lumMod val="100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8000"/>
                <a:satMod val="110000"/>
                <a:lumMod val="104000"/>
              </a:schemeClr>
            </a:gs>
            <a:gs pos="69000">
              <a:schemeClr val="phClr">
                <a:shade val="84000"/>
                <a:satMod val="130000"/>
                <a:lumMod val="92000"/>
              </a:schemeClr>
            </a:gs>
            <a:gs pos="100000">
              <a:schemeClr val="phClr">
                <a:shade val="76000"/>
                <a:satMod val="130000"/>
                <a:lumMod val="88000"/>
              </a:schemeClr>
            </a:gs>
          </a:gsLst>
          <a:lin ang="5400000" scaled="0"/>
        </a:gradFill>
      </a:fillStyleLst>
      <a:lnStyleLst>
        <a:ln w="9525" cap="flat" cmpd="sng" algn="ctr">
          <a:solidFill>
            <a:schemeClr val="phClr"/>
          </a:solidFill>
          <a:prstDash val="solid"/>
        </a:ln>
        <a:ln w="15875" cap="flat" cmpd="sng" algn="ctr">
          <a:solidFill>
            <a:schemeClr val="phClr"/>
          </a:solidFill>
          <a:prstDash val="solid"/>
        </a:ln>
        <a:ln w="22225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/>
        </a:solidFill>
        <a:blipFill rotWithShape="1">
          <a:blip xmlns:r="http://schemas.openxmlformats.org/officeDocument/2006/relationships" r:embed="rId1"/>
          <a:stretch/>
        </a:blip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Madison" id="{025CB5FB-2DD3-45EE-B6F0-CC461540EB19}" vid="{178B2DAB-5DDE-4060-A857-D2E1CDA9250F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TM16401375[[fn=Madison]]</Template>
  <TotalTime>23</TotalTime>
  <Words>368</Words>
  <Application>Microsoft Office PowerPoint</Application>
  <PresentationFormat>Widescreen</PresentationFormat>
  <Paragraphs>67</Paragraphs>
  <Slides>11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11</vt:i4>
      </vt:variant>
    </vt:vector>
  </HeadingPairs>
  <TitlesOfParts>
    <vt:vector size="17" baseType="lpstr">
      <vt:lpstr>Arial</vt:lpstr>
      <vt:lpstr>Google Sans</vt:lpstr>
      <vt:lpstr>MS Shell Dlg 2</vt:lpstr>
      <vt:lpstr>Wingdings</vt:lpstr>
      <vt:lpstr>Wingdings 3</vt:lpstr>
      <vt:lpstr>Madison</vt:lpstr>
      <vt:lpstr>Brain Tumor Classification Using Deep Learning 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Aryan Sengar</dc:creator>
  <cp:lastModifiedBy>Aryan Sengar</cp:lastModifiedBy>
  <cp:revision>1</cp:revision>
  <dcterms:created xsi:type="dcterms:W3CDTF">2026-01-10T13:06:38Z</dcterms:created>
  <dcterms:modified xsi:type="dcterms:W3CDTF">2026-01-10T13:29:39Z</dcterms:modified>
</cp:coreProperties>
</file>